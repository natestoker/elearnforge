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 SemiBold"/>
      <p:regular r:id="rId19"/>
      <p:bold r:id="rId20"/>
      <p:italic r:id="rId21"/>
      <p:boldItalic r:id="rId22"/>
    </p:embeddedFont>
    <p:embeddedFont>
      <p:font typeface="Urbanist Medium"/>
      <p:regular r:id="rId23"/>
      <p:bold r:id="rId24"/>
      <p:italic r:id="rId25"/>
      <p:boldItalic r:id="rId26"/>
    </p:embeddedFont>
    <p:embeddedFont>
      <p:font typeface="Urbanis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SemiBold-bold.fntdata"/><Relationship Id="rId22" Type="http://schemas.openxmlformats.org/officeDocument/2006/relationships/font" Target="fonts/UrbanistSemiBold-boldItalic.fntdata"/><Relationship Id="rId21" Type="http://schemas.openxmlformats.org/officeDocument/2006/relationships/font" Target="fonts/UrbanistSemiBold-italic.fntdata"/><Relationship Id="rId24" Type="http://schemas.openxmlformats.org/officeDocument/2006/relationships/font" Target="fonts/UrbanistMedium-bold.fntdata"/><Relationship Id="rId23" Type="http://schemas.openxmlformats.org/officeDocument/2006/relationships/font" Target="fonts/UrbanistMedium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Medium-boldItalic.fntdata"/><Relationship Id="rId25" Type="http://schemas.openxmlformats.org/officeDocument/2006/relationships/font" Target="fonts/UrbanistMedium-italic.fntdata"/><Relationship Id="rId28" Type="http://schemas.openxmlformats.org/officeDocument/2006/relationships/font" Target="fonts/Urbanist-bold.fntdata"/><Relationship Id="rId27" Type="http://schemas.openxmlformats.org/officeDocument/2006/relationships/font" Target="fonts/Urbanis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Urbanis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Urbanis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SemiBold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2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23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9" Type="http://schemas.openxmlformats.org/officeDocument/2006/relationships/image" Target="../media/image33.png"/><Relationship Id="rId5" Type="http://schemas.openxmlformats.org/officeDocument/2006/relationships/image" Target="../media/image13.png"/><Relationship Id="rId6" Type="http://schemas.openxmlformats.org/officeDocument/2006/relationships/image" Target="../media/image3.png"/><Relationship Id="rId7" Type="http://schemas.openxmlformats.org/officeDocument/2006/relationships/image" Target="../media/image17.png"/><Relationship Id="rId8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5" Type="http://schemas.openxmlformats.org/officeDocument/2006/relationships/image" Target="../media/image14.png"/><Relationship Id="rId6" Type="http://schemas.openxmlformats.org/officeDocument/2006/relationships/image" Target="../media/image28.png"/><Relationship Id="rId7" Type="http://schemas.openxmlformats.org/officeDocument/2006/relationships/image" Target="../media/image35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9.png"/><Relationship Id="rId6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962025" y="1918394"/>
            <a:ext cx="762000" cy="762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62025" y="2375594"/>
            <a:ext cx="10781347" cy="201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Phishing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200" u="none" cap="none" strike="noStrik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Awareness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62025" y="4577655"/>
            <a:ext cx="76200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Spot the hook before you click.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683990" y="1133475"/>
            <a:ext cx="882387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Cybersecurity Essentials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683990" y="2659409"/>
            <a:ext cx="8823870" cy="1386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00" u="none" cap="none" strike="noStrike">
                <a:solidFill>
                  <a:srgbClr val="F4F4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"Attackers do not break into systems first. They manipulate people."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167038" y="4427190"/>
            <a:ext cx="385762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CYBERSECURITY ESSENTIALS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581025" y="1514475"/>
            <a:ext cx="3486150" cy="4762500"/>
            <a:chOff x="581025" y="1514475"/>
            <a:chExt cx="3486150" cy="4762500"/>
          </a:xfrm>
        </p:grpSpPr>
        <p:pic>
          <p:nvPicPr>
            <p:cNvPr descr="image.png" id="102" name="Google Shape;10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81025" y="1514475"/>
              <a:ext cx="3486150" cy="476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5"/>
            <p:cNvSpPr txBox="1"/>
            <p:nvPr/>
          </p:nvSpPr>
          <p:spPr>
            <a:xfrm>
              <a:off x="876300" y="2600325"/>
              <a:ext cx="1060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4F4F5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Urgency</a:t>
              </a:r>
              <a:endParaRPr/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876300" y="3067050"/>
              <a:ext cx="2895600" cy="12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A1A1AA"/>
                  </a:solidFill>
                  <a:latin typeface="Urbanist"/>
                  <a:ea typeface="Urbanist"/>
                  <a:cs typeface="Urbanist"/>
                  <a:sym typeface="Urbanist"/>
                </a:rPr>
                <a:t>Act now or lose access. High-pressure tactics intentionally make you skip standard security checks and act on impulse.</a:t>
              </a:r>
              <a:endParaRPr/>
            </a:p>
          </p:txBody>
        </p:sp>
        <p:pic>
          <p:nvPicPr>
            <p:cNvPr descr="image.png" id="105" name="Google Shape;105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76300" y="1933575"/>
              <a:ext cx="333375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6" name="Google Shape;106;p15"/>
          <p:cNvGrpSpPr/>
          <p:nvPr/>
        </p:nvGrpSpPr>
        <p:grpSpPr>
          <a:xfrm>
            <a:off x="4352925" y="1514475"/>
            <a:ext cx="3486150" cy="4762500"/>
            <a:chOff x="4352925" y="1514475"/>
            <a:chExt cx="3486150" cy="4762500"/>
          </a:xfrm>
        </p:grpSpPr>
        <p:pic>
          <p:nvPicPr>
            <p:cNvPr descr="image.png" id="107" name="Google Shape;107;p1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352925" y="1514475"/>
              <a:ext cx="3486150" cy="476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5"/>
            <p:cNvSpPr txBox="1"/>
            <p:nvPr/>
          </p:nvSpPr>
          <p:spPr>
            <a:xfrm>
              <a:off x="4648200" y="2600325"/>
              <a:ext cx="1330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4F4F5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Familiarity</a:t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4648200" y="3067050"/>
              <a:ext cx="2895600" cy="120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A1A1AA"/>
                  </a:solidFill>
                  <a:latin typeface="Urbanist"/>
                  <a:ea typeface="Urbanist"/>
                  <a:cs typeface="Urbanist"/>
                  <a:sym typeface="Urbanist"/>
                </a:rPr>
                <a:t>It looks exactly like your bank, your boss, or a brand you already trust implicitly, lowering your natural defenses.</a:t>
              </a:r>
              <a:endParaRPr/>
            </a:p>
          </p:txBody>
        </p:sp>
        <p:pic>
          <p:nvPicPr>
            <p:cNvPr descr="image.png" id="110" name="Google Shape;110;p1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648200" y="1933575"/>
              <a:ext cx="381000" cy="38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1" name="Google Shape;111;p15"/>
          <p:cNvGrpSpPr/>
          <p:nvPr/>
        </p:nvGrpSpPr>
        <p:grpSpPr>
          <a:xfrm>
            <a:off x="8124825" y="1514475"/>
            <a:ext cx="3486150" cy="4762500"/>
            <a:chOff x="8124825" y="1514475"/>
            <a:chExt cx="3486150" cy="4762500"/>
          </a:xfrm>
        </p:grpSpPr>
        <p:pic>
          <p:nvPicPr>
            <p:cNvPr descr="image.png" id="112" name="Google Shape;112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124825" y="1514475"/>
              <a:ext cx="3486150" cy="4762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5"/>
            <p:cNvSpPr txBox="1"/>
            <p:nvPr/>
          </p:nvSpPr>
          <p:spPr>
            <a:xfrm>
              <a:off x="8420100" y="2600325"/>
              <a:ext cx="1120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100" u="none" cap="none" strike="noStrike">
                  <a:solidFill>
                    <a:srgbClr val="F4F4F5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Curiosity</a:t>
              </a:r>
              <a:endParaRPr/>
            </a:p>
          </p:txBody>
        </p:sp>
        <p:sp>
          <p:nvSpPr>
            <p:cNvPr id="114" name="Google Shape;114;p15"/>
            <p:cNvSpPr txBox="1"/>
            <p:nvPr/>
          </p:nvSpPr>
          <p:spPr>
            <a:xfrm>
              <a:off x="8420100" y="3067050"/>
              <a:ext cx="2895600" cy="8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50" u="none" cap="none" strike="noStrike">
                  <a:solidFill>
                    <a:srgbClr val="A1A1AA"/>
                  </a:solidFill>
                  <a:latin typeface="Urbanist"/>
                  <a:ea typeface="Urbanist"/>
                  <a:cs typeface="Urbanist"/>
                  <a:sym typeface="Urbanist"/>
                </a:rPr>
                <a:t>A surprise invoice, a shocking photo, or an unexpected package update you just feel compelled to open.</a:t>
              </a:r>
              <a:endParaRPr/>
            </a:p>
          </p:txBody>
        </p:sp>
        <p:pic>
          <p:nvPicPr>
            <p:cNvPr descr="image.png" id="115" name="Google Shape;115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420100" y="1933575"/>
              <a:ext cx="476250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5"/>
          <p:cNvSpPr txBox="1"/>
          <p:nvPr/>
        </p:nvSpPr>
        <p:spPr>
          <a:xfrm>
            <a:off x="581025" y="581025"/>
            <a:ext cx="1158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Psychology of Phishing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2924175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3.4B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81025" y="4543425"/>
            <a:ext cx="52768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Emails Sent Daily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334125" y="2327374"/>
            <a:ext cx="5540692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 Continuous Threat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334125" y="2927449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Phishing is not a rare occurrence; it is a massive, automated industry. The volume of attacks ensures that even a tiny success rate yields profits.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334125" y="4123432"/>
            <a:ext cx="5276850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Furthermore, it takes an average of </a:t>
            </a:r>
            <a:r>
              <a:rPr b="1" i="0" lang="en-US" sz="16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295 days</a:t>
            </a:r>
            <a:r>
              <a:rPr b="0" i="0" lang="en-US" sz="16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 to identify and contain a data breach caused by phishing, highlighting the severe long-term impact on organizations.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Scale of the Problem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2477" y="1059358"/>
            <a:ext cx="3298924" cy="2274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1901" y="1059358"/>
            <a:ext cx="3299073" cy="2274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2477" y="3524250"/>
            <a:ext cx="3298924" cy="22743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11901" y="3524250"/>
            <a:ext cx="3299073" cy="227439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581025" y="2309812"/>
            <a:ext cx="4053475" cy="1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Four Red Flags to Watch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5" y="3605212"/>
            <a:ext cx="3860452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Be on the lookout for these common indicators of a phishing attempt in your inbox.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117752" y="1954708"/>
            <a:ext cx="2020252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Mismatched Sender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117752" y="2307133"/>
            <a:ext cx="2708374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The display name might look familiar, but the actual email address belongs to an unknown domain.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607176" y="1954708"/>
            <a:ext cx="148018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Urgent Threats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607176" y="2307133"/>
            <a:ext cx="270852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"Your account will be closed in 24 hours." They use fear to force you into immediate action.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5117752" y="4419600"/>
            <a:ext cx="15801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Suspicious Links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5117752" y="4772025"/>
            <a:ext cx="2708374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When you hover over the link or button, it points somewhere completely unrecognized.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607176" y="4419600"/>
            <a:ext cx="198024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Credential Requests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607176" y="4772025"/>
            <a:ext cx="2708523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No legitimate company or IT department will ever ask for your password directly via email.</a:t>
            </a:r>
            <a:endParaRPr/>
          </a:p>
        </p:txBody>
      </p:sp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17752" y="138320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07176" y="138320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117752" y="384810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07176" y="384810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581025" y="581025"/>
            <a:ext cx="5540692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Anatomy of an Attack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81025" y="1514475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F444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Spotting the Fakes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81025" y="2066925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Phishing emails are carefully engineered to deceive. They often spoof legitimate domains to appear authentic at a quick glance.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81025" y="3262907"/>
            <a:ext cx="52768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Attackers create a false sense of urgency and hide malicious links behind generic action buttons like "Reset Password" or "View Secure Invoice".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19850" y="1752600"/>
            <a:ext cx="51911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581025" y="2247900"/>
            <a:ext cx="543067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Highly Targeted Attacks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75" y="1762125"/>
            <a:ext cx="517207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057275" y="2943225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Unlike mass spam emails, these attackers meticulously research you beforehand.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57275" y="3810000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They know your name, your specific role, and sometimes your recent projects.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057275" y="4676775"/>
            <a:ext cx="46958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Always verify unexpected requests, even if they appear to be from executives or vendors.</a:t>
            </a:r>
            <a:endParaRPr/>
          </a:p>
        </p:txBody>
      </p:sp>
      <p:pic>
        <p:nvPicPr>
          <p:cNvPr descr="image.png" id="172" name="Google Shape;17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9575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82428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69106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Spear Phishing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0" name="Google Shape;18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34861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514475"/>
            <a:ext cx="34861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514475"/>
            <a:ext cx="34861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876300" y="2600325"/>
            <a:ext cx="8201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Stop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876300" y="306705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Do not click on reflex. Slow down for a moment and consciously suppress the urge to act immediately on the email.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4648200" y="2600325"/>
            <a:ext cx="12001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Inspect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648200" y="306705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Check the actual sender address and carefully hover over any links to reveal their true URL destination.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420100" y="2600325"/>
            <a:ext cx="10401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Verify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420100" y="3067050"/>
            <a:ext cx="28956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Unsure? Confirm the request through a secondary channel you already know and trust, like a phone call.</a:t>
            </a:r>
            <a:endParaRPr/>
          </a:p>
        </p:txBody>
      </p:sp>
      <p:pic>
        <p:nvPicPr>
          <p:cNvPr descr="image.png" id="190" name="Google Shape;19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19335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19335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19335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Three Second Check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514475"/>
            <a:ext cx="5324475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14475"/>
            <a:ext cx="53244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971550" y="2562225"/>
            <a:ext cx="910113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47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Do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677025" y="2562225"/>
            <a:ext cx="1330166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000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EF4444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Avoid</a:t>
            </a:r>
            <a:endParaRPr/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590800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1447800" y="3257550"/>
            <a:ext cx="40671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Pause and read the full sender address carefully.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1447800" y="4124325"/>
            <a:ext cx="4067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Hover over links before clicking anything.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1447800" y="4676775"/>
            <a:ext cx="4067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Report it to IT immediately, then delete it.</a:t>
            </a:r>
            <a:endParaRPr/>
          </a:p>
        </p:txBody>
      </p:sp>
      <p:pic>
        <p:nvPicPr>
          <p:cNvPr descr="image.png" id="207" name="Google Shape;20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25" y="2590800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1"/>
          <p:cNvSpPr txBox="1"/>
          <p:nvPr/>
        </p:nvSpPr>
        <p:spPr>
          <a:xfrm>
            <a:off x="7153275" y="3257550"/>
            <a:ext cx="4067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Clicking or opening attachments in a rush.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7153275" y="3810000"/>
            <a:ext cx="40671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Replying to the email with passwords or codes.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7153275" y="4676775"/>
            <a:ext cx="4067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Trusting a logo or a familiar name alone.</a:t>
            </a:r>
            <a:endParaRPr/>
          </a:p>
        </p:txBody>
      </p:sp>
      <p:pic>
        <p:nvPicPr>
          <p:cNvPr descr="image.png" id="211" name="Google Shape;21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3333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42005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475297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3333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388620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77025" y="47529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1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When In Doubt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95475"/>
            <a:ext cx="400050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6429375" y="2236737"/>
            <a:ext cx="5440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What if you click?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429375" y="2979687"/>
            <a:ext cx="5181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Don't panic. Mistakes happen, but how you react makes all the difference.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429375" y="3901529"/>
            <a:ext cx="5181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Disconnect your device from the network immediately to prevent malware from spreading.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6429375" y="4823370"/>
            <a:ext cx="51816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Contact the IT Helpdesk right away. Prompt reporting is critical to minimizing the damage.</a:t>
            </a:r>
            <a:endParaRPr/>
          </a:p>
        </p:txBody>
      </p:sp>
      <p:pic>
        <p:nvPicPr>
          <p:cNvPr descr="image.png" id="228" name="Google Shape;22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" y="1933575"/>
            <a:ext cx="3924300" cy="39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Incident Response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2286000" y="1895475"/>
            <a:ext cx="809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Most attacks start with a single convincing email.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2286000" y="2676525"/>
            <a:ext cx="809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Watch for urgency, odd senders, and link or password requests.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2286000" y="3457575"/>
            <a:ext cx="809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When in doubt, stop and verify through a trusted channel.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2286000" y="4238625"/>
            <a:ext cx="8096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4F4F5"/>
                </a:solidFill>
                <a:latin typeface="Urbanist"/>
                <a:ea typeface="Urbanist"/>
                <a:cs typeface="Urbanist"/>
                <a:sym typeface="Urbanist"/>
              </a:rPr>
              <a:t>Spot something suspicious? Report it to IT right away.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1890712"/>
            <a:ext cx="3048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671762"/>
            <a:ext cx="3048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452812"/>
            <a:ext cx="30480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233862"/>
            <a:ext cx="30480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Key Takeaways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0" y="1462087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305276" y="3176587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Stay Vigilant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581025" y="4281487"/>
            <a:ext cx="110299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Thank you for protecting our network.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81025" y="5119687"/>
            <a:ext cx="11029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security@yourcompany.com  •  IT Helpdesk: Ext 5555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90B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/>
          <p:nvPr/>
        </p:nvSpPr>
        <p:spPr>
          <a:xfrm>
            <a:off x="581025" y="1514475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81025" y="2286000"/>
            <a:ext cx="11029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81025" y="22764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81025" y="22764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81025" y="30480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81025" y="304800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4" name="Google Shape;26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57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1676400" y="1709737"/>
            <a:ext cx="99345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https://winonait.com/wp-content/uploads/2023/10/close-up-of-the-scam-email-.png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676400" y="1900237"/>
            <a:ext cx="9934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winonait.com</a:t>
            </a:r>
            <a:endParaRPr/>
          </a:p>
        </p:txBody>
      </p:sp>
      <p:pic>
        <p:nvPicPr>
          <p:cNvPr descr="image.png" id="267" name="Google Shape;26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428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/>
        </p:nvSpPr>
        <p:spPr>
          <a:xfrm>
            <a:off x="1676400" y="2481262"/>
            <a:ext cx="99345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https://www.avast.com/hubfs/New_Avast_Academy/Hackers/Hacker-Thumb-a1.png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676400" y="2671762"/>
            <a:ext cx="9934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www.avast.com</a:t>
            </a:r>
            <a:endParaRPr/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219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676400" y="3200400"/>
            <a:ext cx="99345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https://d3njjcbhbojbot.cloudfront.net/api/utilities/v1/imageproxy/https://images.ctfassets.net/wp1lcwdav1p1/2TnKwEX8d7RNnAbwbQECAR/fbea6f491a42381ef441e8ff7733154b/GettyImages-1436060194.jpg?w=1500&amp;h=680&amp;q=60&amp;fit=fill&amp;f=faces&amp;fm=jpg&amp;fl=progressive&amp;auto=format%2Ccompress&amp;dpr=1&amp;w=1000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676400" y="3533775"/>
            <a:ext cx="99345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1A1AA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www.coursera.org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4F4F5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