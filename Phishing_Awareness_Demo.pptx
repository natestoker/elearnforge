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short security refresher on phishing. In the next few minutes we will look at why phishing works, the red flags that give it away, and a simple habit you can use every day. The goal is not to make you paranoid. It is to help you pause for a second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rarely starts by breaking into a system. It starts by manipulating a person. Attackers lean on three things. Urgency, so you act before you think. Familiarity, by imitating a brand or a person you trust. And curiosity, like a surprise invoice or a package update you want to open. When you notice those feelings, that is your cue to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four red flags worth memorizing. First, a sender whose display name and real address do not match. Second, urgent threats with a deadline meant to rush you. Third, links that point somewhere you do not recognize when you hover over them. And fourth, any request for your password or a security code. No legitimate company will ask for that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a real example. Notice the sender. It looks like an I T help desk, but the domain is slightly off, with a number standing in for a letter. The subject pushes a deadline to create pressure. And the button is the trap, a fake action link dressed up to look official. Any one of these alone is a warning. Together, they are a clear phishing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something feels off, run a quick three second check. Step one, stop, and resist the reflex to click. Step two, inspect the sender address and hover over the links to see where they really go. Step three, if you are still unsure, verify through a channel you already trust, like calling the person directly, rather than replying to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simple, here is what to do and what to avoid. Do pause and read the full sender address, hover over links first, and report anything suspicious to I T. Avoid clicking or opening attachments in a hurry, never reply with passwords or codes, and do not trust a logo or a familiar name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recap. Most attacks begin with a single convincing email. Watch for urgency, odd sender addresses, and any request to click or hand over a password. And when in doubt, stop and verify through a trusted channel. If you spot something suspicious, report it to I T right away. Thanks for taking a few minutes to stay sharp.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3931920" y="777240"/>
            <a:ext cx="1280160" cy="1280160"/>
          </a:xfrm>
          <a:prstGeom prst="ellipse">
            <a:avLst/>
          </a:prstGeom>
          <a:solidFill>
            <a:srgbClr val="14B8A6"/>
          </a:solidFill>
          <a:ln/>
        </p:spPr>
      </p:sp>
      <p:pic>
        <p:nvPicPr>
          <p:cNvPr id="3" name="Image 0" descr="preencoded.png">    </p:cNvPr>
          <p:cNvPicPr>
            <a:picLocks noChangeAspect="1"/>
          </p:cNvPicPr>
          <p:nvPr/>
        </p:nvPicPr>
        <p:blipFill>
          <a:blip r:embed="rId1"/>
          <a:stretch>
            <a:fillRect/>
          </a:stretch>
        </p:blipFill>
        <p:spPr>
          <a:xfrm>
            <a:off x="4251960" y="1097280"/>
            <a:ext cx="640080" cy="640080"/>
          </a:xfrm>
          <a:prstGeom prst="rect">
            <a:avLst/>
          </a:prstGeom>
        </p:spPr>
      </p:pic>
      <p:sp>
        <p:nvSpPr>
          <p:cNvPr id="4" name="Text 1"/>
          <p:cNvSpPr/>
          <p:nvPr/>
        </p:nvSpPr>
        <p:spPr>
          <a:xfrm>
            <a:off x="457200" y="2331720"/>
            <a:ext cx="8229600" cy="82296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Phishing Awareness</a:t>
            </a:r>
            <a:endParaRPr lang="en-US" sz="4400" dirty="0"/>
          </a:p>
        </p:txBody>
      </p:sp>
      <p:sp>
        <p:nvSpPr>
          <p:cNvPr id="5" name="Text 2"/>
          <p:cNvSpPr/>
          <p:nvPr/>
        </p:nvSpPr>
        <p:spPr>
          <a:xfrm>
            <a:off x="457200" y="3154680"/>
            <a:ext cx="8229600" cy="457200"/>
          </a:xfrm>
          <a:prstGeom prst="rect">
            <a:avLst/>
          </a:prstGeom>
          <a:noFill/>
          <a:ln/>
        </p:spPr>
        <p:txBody>
          <a:bodyPr wrap="square" rtlCol="0" anchor="ctr"/>
          <a:lstStyle/>
          <a:p>
            <a:pPr algn="ctr" indent="0" marL="0">
              <a:buNone/>
            </a:pPr>
            <a:r>
              <a:rPr lang="en-US" sz="2000" dirty="0">
                <a:solidFill>
                  <a:srgbClr val="2DD4BF"/>
                </a:solidFill>
                <a:latin typeface="Calibri" pitchFamily="34" charset="0"/>
                <a:ea typeface="Calibri" pitchFamily="34" charset="-122"/>
                <a:cs typeface="Calibri" pitchFamily="34" charset="-120"/>
              </a:rPr>
              <a:t>Spot the hook before you click</a:t>
            </a:r>
            <a:endParaRPr lang="en-US" sz="2000" dirty="0"/>
          </a:p>
        </p:txBody>
      </p:sp>
      <p:sp>
        <p:nvSpPr>
          <p:cNvPr id="6" name="Text 3"/>
          <p:cNvSpPr/>
          <p:nvPr/>
        </p:nvSpPr>
        <p:spPr>
          <a:xfrm>
            <a:off x="457200" y="4526280"/>
            <a:ext cx="8229600" cy="365760"/>
          </a:xfrm>
          <a:prstGeom prst="rect">
            <a:avLst/>
          </a:prstGeom>
          <a:noFill/>
          <a:ln/>
        </p:spPr>
        <p:txBody>
          <a:bodyPr wrap="square" rtlCol="0" anchor="ctr"/>
          <a:lstStyle/>
          <a:p>
            <a:pPr algn="ctr" indent="0" marL="0">
              <a:buNone/>
            </a:pPr>
            <a:r>
              <a:rPr lang="en-US" sz="1200" spc="100" kern="0" dirty="0">
                <a:solidFill>
                  <a:srgbClr val="C9DEE2"/>
                </a:solidFill>
                <a:latin typeface="Calibri" pitchFamily="34" charset="0"/>
                <a:ea typeface="Calibri" pitchFamily="34" charset="-122"/>
                <a:cs typeface="Calibri" pitchFamily="34" charset="-120"/>
              </a:rPr>
              <a:t>Security Essentials   |   About 5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4252B"/>
                </a:solidFill>
                <a:latin typeface="Cambria" pitchFamily="34" charset="0"/>
                <a:ea typeface="Cambria" pitchFamily="34" charset="-122"/>
                <a:cs typeface="Cambria" pitchFamily="34" charset="-120"/>
              </a:rPr>
              <a:t>Why phishing works</a:t>
            </a:r>
            <a:endParaRPr lang="en-US" sz="3200" dirty="0"/>
          </a:p>
        </p:txBody>
      </p:sp>
      <p:sp>
        <p:nvSpPr>
          <p:cNvPr id="3" name="Text 1"/>
          <p:cNvSpPr/>
          <p:nvPr/>
        </p:nvSpPr>
        <p:spPr>
          <a:xfrm>
            <a:off x="457200" y="1024128"/>
            <a:ext cx="8229600" cy="365760"/>
          </a:xfrm>
          <a:prstGeom prst="rect">
            <a:avLst/>
          </a:prstGeom>
          <a:noFill/>
          <a:ln/>
        </p:spPr>
        <p:txBody>
          <a:bodyPr wrap="square" lIns="0" tIns="0" rIns="0" bIns="0" rtlCol="0" anchor="ctr"/>
          <a:lstStyle/>
          <a:p>
            <a:pPr indent="0" marL="0">
              <a:buNone/>
            </a:pPr>
            <a:r>
              <a:rPr lang="en-US" sz="1500" i="1" dirty="0">
                <a:solidFill>
                  <a:srgbClr val="5C6B70"/>
                </a:solidFill>
                <a:latin typeface="Calibri" pitchFamily="34" charset="0"/>
                <a:ea typeface="Calibri" pitchFamily="34" charset="-122"/>
                <a:cs typeface="Calibri" pitchFamily="34" charset="-120"/>
              </a:rPr>
              <a:t>Attackers do not break into systems first. They manipulate people.</a:t>
            </a:r>
            <a:endParaRPr lang="en-US" sz="1500" dirty="0"/>
          </a:p>
        </p:txBody>
      </p:sp>
      <p:sp>
        <p:nvSpPr>
          <p:cNvPr id="4" name="Shape 2"/>
          <p:cNvSpPr/>
          <p:nvPr/>
        </p:nvSpPr>
        <p:spPr>
          <a:xfrm>
            <a:off x="457200" y="1600200"/>
            <a:ext cx="8229600" cy="914400"/>
          </a:xfrm>
          <a:prstGeom prst="roundRect">
            <a:avLst>
              <a:gd name="adj" fmla="val 8000"/>
            </a:avLst>
          </a:prstGeom>
          <a:solidFill>
            <a:srgbClr val="EAF4F5"/>
          </a:solidFill>
          <a:ln/>
          <a:effectLst>
            <a:outerShdw sx="100000" sy="100000" kx="0" ky="0" algn="bl" rotWithShape="0" blurRad="88900" dist="25400" dir="5400000">
              <a:srgbClr val="000000">
                <a:alpha val="16000"/>
              </a:srgbClr>
            </a:outerShdw>
          </a:effectLst>
        </p:spPr>
      </p:sp>
      <p:sp>
        <p:nvSpPr>
          <p:cNvPr id="5" name="Shape 3"/>
          <p:cNvSpPr/>
          <p:nvPr/>
        </p:nvSpPr>
        <p:spPr>
          <a:xfrm>
            <a:off x="713232" y="1801368"/>
            <a:ext cx="512064" cy="512064"/>
          </a:xfrm>
          <a:prstGeom prst="ellipse">
            <a:avLst/>
          </a:prstGeom>
          <a:solidFill>
            <a:srgbClr val="0E7490"/>
          </a:solidFill>
          <a:ln/>
        </p:spPr>
      </p:sp>
      <p:pic>
        <p:nvPicPr>
          <p:cNvPr id="6" name="Image 0" descr="preencoded.png">    </p:cNvPr>
          <p:cNvPicPr>
            <a:picLocks noChangeAspect="1"/>
          </p:cNvPicPr>
          <p:nvPr/>
        </p:nvPicPr>
        <p:blipFill>
          <a:blip r:embed="rId1"/>
          <a:stretch>
            <a:fillRect/>
          </a:stretch>
        </p:blipFill>
        <p:spPr>
          <a:xfrm>
            <a:off x="841248" y="1929384"/>
            <a:ext cx="256032" cy="256032"/>
          </a:xfrm>
          <a:prstGeom prst="rect">
            <a:avLst/>
          </a:prstGeom>
        </p:spPr>
      </p:pic>
      <p:sp>
        <p:nvSpPr>
          <p:cNvPr id="7" name="Text 4"/>
          <p:cNvSpPr/>
          <p:nvPr/>
        </p:nvSpPr>
        <p:spPr>
          <a:xfrm>
            <a:off x="1463040" y="1719072"/>
            <a:ext cx="6583680" cy="329184"/>
          </a:xfrm>
          <a:prstGeom prst="rect">
            <a:avLst/>
          </a:prstGeom>
          <a:noFill/>
          <a:ln/>
        </p:spPr>
        <p:txBody>
          <a:bodyPr wrap="square" lIns="0" tIns="0" rIns="0" bIns="0" rtlCol="0" anchor="ctr"/>
          <a:lstStyle/>
          <a:p>
            <a:pPr indent="0" marL="0">
              <a:buNone/>
            </a:pPr>
            <a:r>
              <a:rPr lang="en-US" sz="1800" b="1" dirty="0">
                <a:solidFill>
                  <a:srgbClr val="14252B"/>
                </a:solidFill>
                <a:latin typeface="Calibri" pitchFamily="34" charset="0"/>
                <a:ea typeface="Calibri" pitchFamily="34" charset="-122"/>
                <a:cs typeface="Calibri" pitchFamily="34" charset="-120"/>
              </a:rPr>
              <a:t>Urgency</a:t>
            </a:r>
            <a:endParaRPr lang="en-US" sz="1800" dirty="0"/>
          </a:p>
        </p:txBody>
      </p:sp>
      <p:sp>
        <p:nvSpPr>
          <p:cNvPr id="8" name="Text 5"/>
          <p:cNvSpPr/>
          <p:nvPr/>
        </p:nvSpPr>
        <p:spPr>
          <a:xfrm>
            <a:off x="1463040" y="2057400"/>
            <a:ext cx="6583680" cy="365760"/>
          </a:xfrm>
          <a:prstGeom prst="rect">
            <a:avLst/>
          </a:prstGeom>
          <a:noFill/>
          <a:ln/>
        </p:spPr>
        <p:txBody>
          <a:bodyPr wrap="square" lIns="0" tIns="0" rIns="0" bIns="0" rtlCol="0" anchor="ctr"/>
          <a:lstStyle/>
          <a:p>
            <a:pPr indent="0" marL="0">
              <a:buNone/>
            </a:pPr>
            <a:r>
              <a:rPr lang="en-US" sz="1350" dirty="0">
                <a:solidFill>
                  <a:srgbClr val="5C6B70"/>
                </a:solidFill>
                <a:latin typeface="Calibri" pitchFamily="34" charset="0"/>
                <a:ea typeface="Calibri" pitchFamily="34" charset="-122"/>
                <a:cs typeface="Calibri" pitchFamily="34" charset="-120"/>
              </a:rPr>
              <a:t>Act now or lose access. Pressure makes you skip the checks.</a:t>
            </a:r>
            <a:endParaRPr lang="en-US" sz="1350" dirty="0"/>
          </a:p>
        </p:txBody>
      </p:sp>
      <p:sp>
        <p:nvSpPr>
          <p:cNvPr id="9" name="Shape 6"/>
          <p:cNvSpPr/>
          <p:nvPr/>
        </p:nvSpPr>
        <p:spPr>
          <a:xfrm>
            <a:off x="457200" y="2679192"/>
            <a:ext cx="8229600" cy="914400"/>
          </a:xfrm>
          <a:prstGeom prst="roundRect">
            <a:avLst>
              <a:gd name="adj" fmla="val 8000"/>
            </a:avLst>
          </a:prstGeom>
          <a:solidFill>
            <a:srgbClr val="EAF4F5"/>
          </a:solidFill>
          <a:ln/>
          <a:effectLst>
            <a:outerShdw sx="100000" sy="100000" kx="0" ky="0" algn="bl" rotWithShape="0" blurRad="88900" dist="25400" dir="5400000">
              <a:srgbClr val="000000">
                <a:alpha val="16000"/>
              </a:srgbClr>
            </a:outerShdw>
          </a:effectLst>
        </p:spPr>
      </p:sp>
      <p:sp>
        <p:nvSpPr>
          <p:cNvPr id="10" name="Shape 7"/>
          <p:cNvSpPr/>
          <p:nvPr/>
        </p:nvSpPr>
        <p:spPr>
          <a:xfrm>
            <a:off x="713232" y="2880360"/>
            <a:ext cx="512064" cy="512064"/>
          </a:xfrm>
          <a:prstGeom prst="ellipse">
            <a:avLst/>
          </a:prstGeom>
          <a:solidFill>
            <a:srgbClr val="0E7490"/>
          </a:solidFill>
          <a:ln/>
        </p:spPr>
      </p:sp>
      <p:pic>
        <p:nvPicPr>
          <p:cNvPr id="11" name="Image 1" descr="preencoded.png">    </p:cNvPr>
          <p:cNvPicPr>
            <a:picLocks noChangeAspect="1"/>
          </p:cNvPicPr>
          <p:nvPr/>
        </p:nvPicPr>
        <p:blipFill>
          <a:blip r:embed="rId2"/>
          <a:stretch>
            <a:fillRect/>
          </a:stretch>
        </p:blipFill>
        <p:spPr>
          <a:xfrm>
            <a:off x="841248" y="3008376"/>
            <a:ext cx="256032" cy="256032"/>
          </a:xfrm>
          <a:prstGeom prst="rect">
            <a:avLst/>
          </a:prstGeom>
        </p:spPr>
      </p:pic>
      <p:sp>
        <p:nvSpPr>
          <p:cNvPr id="12" name="Text 8"/>
          <p:cNvSpPr/>
          <p:nvPr/>
        </p:nvSpPr>
        <p:spPr>
          <a:xfrm>
            <a:off x="1463040" y="2798064"/>
            <a:ext cx="6583680" cy="329184"/>
          </a:xfrm>
          <a:prstGeom prst="rect">
            <a:avLst/>
          </a:prstGeom>
          <a:noFill/>
          <a:ln/>
        </p:spPr>
        <p:txBody>
          <a:bodyPr wrap="square" lIns="0" tIns="0" rIns="0" bIns="0" rtlCol="0" anchor="ctr"/>
          <a:lstStyle/>
          <a:p>
            <a:pPr indent="0" marL="0">
              <a:buNone/>
            </a:pPr>
            <a:r>
              <a:rPr lang="en-US" sz="1800" b="1" dirty="0">
                <a:solidFill>
                  <a:srgbClr val="14252B"/>
                </a:solidFill>
                <a:latin typeface="Calibri" pitchFamily="34" charset="0"/>
                <a:ea typeface="Calibri" pitchFamily="34" charset="-122"/>
                <a:cs typeface="Calibri" pitchFamily="34" charset="-120"/>
              </a:rPr>
              <a:t>Familiarity</a:t>
            </a:r>
            <a:endParaRPr lang="en-US" sz="1800" dirty="0"/>
          </a:p>
        </p:txBody>
      </p:sp>
      <p:sp>
        <p:nvSpPr>
          <p:cNvPr id="13" name="Text 9"/>
          <p:cNvSpPr/>
          <p:nvPr/>
        </p:nvSpPr>
        <p:spPr>
          <a:xfrm>
            <a:off x="1463040" y="3136392"/>
            <a:ext cx="6583680" cy="365760"/>
          </a:xfrm>
          <a:prstGeom prst="rect">
            <a:avLst/>
          </a:prstGeom>
          <a:noFill/>
          <a:ln/>
        </p:spPr>
        <p:txBody>
          <a:bodyPr wrap="square" lIns="0" tIns="0" rIns="0" bIns="0" rtlCol="0" anchor="ctr"/>
          <a:lstStyle/>
          <a:p>
            <a:pPr indent="0" marL="0">
              <a:buNone/>
            </a:pPr>
            <a:r>
              <a:rPr lang="en-US" sz="1350" dirty="0">
                <a:solidFill>
                  <a:srgbClr val="5C6B70"/>
                </a:solidFill>
                <a:latin typeface="Calibri" pitchFamily="34" charset="0"/>
                <a:ea typeface="Calibri" pitchFamily="34" charset="-122"/>
                <a:cs typeface="Calibri" pitchFamily="34" charset="-120"/>
              </a:rPr>
              <a:t>It looks like your bank, your boss, or a brand you already trust.</a:t>
            </a:r>
            <a:endParaRPr lang="en-US" sz="1350" dirty="0"/>
          </a:p>
        </p:txBody>
      </p:sp>
      <p:sp>
        <p:nvSpPr>
          <p:cNvPr id="14" name="Shape 10"/>
          <p:cNvSpPr/>
          <p:nvPr/>
        </p:nvSpPr>
        <p:spPr>
          <a:xfrm>
            <a:off x="457200" y="3758184"/>
            <a:ext cx="8229600" cy="914400"/>
          </a:xfrm>
          <a:prstGeom prst="roundRect">
            <a:avLst>
              <a:gd name="adj" fmla="val 8000"/>
            </a:avLst>
          </a:prstGeom>
          <a:solidFill>
            <a:srgbClr val="EAF4F5"/>
          </a:solidFill>
          <a:ln/>
          <a:effectLst>
            <a:outerShdw sx="100000" sy="100000" kx="0" ky="0" algn="bl" rotWithShape="0" blurRad="88900" dist="25400" dir="5400000">
              <a:srgbClr val="000000">
                <a:alpha val="16000"/>
              </a:srgbClr>
            </a:outerShdw>
          </a:effectLst>
        </p:spPr>
      </p:sp>
      <p:sp>
        <p:nvSpPr>
          <p:cNvPr id="15" name="Shape 11"/>
          <p:cNvSpPr/>
          <p:nvPr/>
        </p:nvSpPr>
        <p:spPr>
          <a:xfrm>
            <a:off x="713232" y="3959352"/>
            <a:ext cx="512064" cy="512064"/>
          </a:xfrm>
          <a:prstGeom prst="ellipse">
            <a:avLst/>
          </a:prstGeom>
          <a:solidFill>
            <a:srgbClr val="0E7490"/>
          </a:solidFill>
          <a:ln/>
        </p:spPr>
      </p:sp>
      <p:pic>
        <p:nvPicPr>
          <p:cNvPr id="16" name="Image 2" descr="preencoded.png">    </p:cNvPr>
          <p:cNvPicPr>
            <a:picLocks noChangeAspect="1"/>
          </p:cNvPicPr>
          <p:nvPr/>
        </p:nvPicPr>
        <p:blipFill>
          <a:blip r:embed="rId3"/>
          <a:stretch>
            <a:fillRect/>
          </a:stretch>
        </p:blipFill>
        <p:spPr>
          <a:xfrm>
            <a:off x="841248" y="4087368"/>
            <a:ext cx="256032" cy="256032"/>
          </a:xfrm>
          <a:prstGeom prst="rect">
            <a:avLst/>
          </a:prstGeom>
        </p:spPr>
      </p:pic>
      <p:sp>
        <p:nvSpPr>
          <p:cNvPr id="17" name="Text 12"/>
          <p:cNvSpPr/>
          <p:nvPr/>
        </p:nvSpPr>
        <p:spPr>
          <a:xfrm>
            <a:off x="1463040" y="3877056"/>
            <a:ext cx="6583680" cy="329184"/>
          </a:xfrm>
          <a:prstGeom prst="rect">
            <a:avLst/>
          </a:prstGeom>
          <a:noFill/>
          <a:ln/>
        </p:spPr>
        <p:txBody>
          <a:bodyPr wrap="square" lIns="0" tIns="0" rIns="0" bIns="0" rtlCol="0" anchor="ctr"/>
          <a:lstStyle/>
          <a:p>
            <a:pPr indent="0" marL="0">
              <a:buNone/>
            </a:pPr>
            <a:r>
              <a:rPr lang="en-US" sz="1800" b="1" dirty="0">
                <a:solidFill>
                  <a:srgbClr val="14252B"/>
                </a:solidFill>
                <a:latin typeface="Calibri" pitchFamily="34" charset="0"/>
                <a:ea typeface="Calibri" pitchFamily="34" charset="-122"/>
                <a:cs typeface="Calibri" pitchFamily="34" charset="-120"/>
              </a:rPr>
              <a:t>Curiosity</a:t>
            </a:r>
            <a:endParaRPr lang="en-US" sz="1800" dirty="0"/>
          </a:p>
        </p:txBody>
      </p:sp>
      <p:sp>
        <p:nvSpPr>
          <p:cNvPr id="18" name="Text 13"/>
          <p:cNvSpPr/>
          <p:nvPr/>
        </p:nvSpPr>
        <p:spPr>
          <a:xfrm>
            <a:off x="1463040" y="4215384"/>
            <a:ext cx="6583680" cy="365760"/>
          </a:xfrm>
          <a:prstGeom prst="rect">
            <a:avLst/>
          </a:prstGeom>
          <a:noFill/>
          <a:ln/>
        </p:spPr>
        <p:txBody>
          <a:bodyPr wrap="square" lIns="0" tIns="0" rIns="0" bIns="0" rtlCol="0" anchor="ctr"/>
          <a:lstStyle/>
          <a:p>
            <a:pPr indent="0" marL="0">
              <a:buNone/>
            </a:pPr>
            <a:r>
              <a:rPr lang="en-US" sz="1350" dirty="0">
                <a:solidFill>
                  <a:srgbClr val="5C6B70"/>
                </a:solidFill>
                <a:latin typeface="Calibri" pitchFamily="34" charset="0"/>
                <a:ea typeface="Calibri" pitchFamily="34" charset="-122"/>
                <a:cs typeface="Calibri" pitchFamily="34" charset="-120"/>
              </a:rPr>
              <a:t>A surprise invoice or a package update you just have to open.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4252B"/>
                </a:solidFill>
                <a:latin typeface="Cambria" pitchFamily="34" charset="0"/>
                <a:ea typeface="Cambria" pitchFamily="34" charset="-122"/>
                <a:cs typeface="Cambria" pitchFamily="34" charset="-120"/>
              </a:rPr>
              <a:t>Four red flags to watch for</a:t>
            </a:r>
            <a:endParaRPr lang="en-US" sz="3200" dirty="0"/>
          </a:p>
        </p:txBody>
      </p:sp>
      <p:sp>
        <p:nvSpPr>
          <p:cNvPr id="3" name="Shape 1"/>
          <p:cNvSpPr/>
          <p:nvPr/>
        </p:nvSpPr>
        <p:spPr>
          <a:xfrm>
            <a:off x="457200" y="1234440"/>
            <a:ext cx="3931920" cy="1627632"/>
          </a:xfrm>
          <a:prstGeom prst="roundRect">
            <a:avLst>
              <a:gd name="adj" fmla="val 4494"/>
            </a:avLst>
          </a:prstGeom>
          <a:solidFill>
            <a:srgbClr val="FFFFFF"/>
          </a:solidFill>
          <a:ln w="12700">
            <a:solidFill>
              <a:srgbClr val="E2ECEE"/>
            </a:solidFill>
            <a:prstDash val="solid"/>
          </a:ln>
          <a:effectLst>
            <a:outerShdw sx="100000" sy="100000" kx="0" ky="0" algn="bl" rotWithShape="0" blurRad="88900" dist="25400" dir="5400000">
              <a:srgbClr val="000000">
                <a:alpha val="16000"/>
              </a:srgbClr>
            </a:outerShdw>
          </a:effectLst>
        </p:spPr>
      </p:sp>
      <p:sp>
        <p:nvSpPr>
          <p:cNvPr id="4" name="Shape 2"/>
          <p:cNvSpPr/>
          <p:nvPr/>
        </p:nvSpPr>
        <p:spPr>
          <a:xfrm>
            <a:off x="731520" y="1527048"/>
            <a:ext cx="566928" cy="566928"/>
          </a:xfrm>
          <a:prstGeom prst="ellipse">
            <a:avLst/>
          </a:prstGeom>
          <a:solidFill>
            <a:srgbClr val="F59E0B"/>
          </a:solidFill>
          <a:ln/>
        </p:spPr>
      </p:sp>
      <p:pic>
        <p:nvPicPr>
          <p:cNvPr id="5" name="Image 0" descr="preencoded.png">    </p:cNvPr>
          <p:cNvPicPr>
            <a:picLocks noChangeAspect="1"/>
          </p:cNvPicPr>
          <p:nvPr/>
        </p:nvPicPr>
        <p:blipFill>
          <a:blip r:embed="rId1"/>
          <a:stretch>
            <a:fillRect/>
          </a:stretch>
        </p:blipFill>
        <p:spPr>
          <a:xfrm>
            <a:off x="873252" y="1668780"/>
            <a:ext cx="283464" cy="283464"/>
          </a:xfrm>
          <a:prstGeom prst="rect">
            <a:avLst/>
          </a:prstGeom>
        </p:spPr>
      </p:pic>
      <p:sp>
        <p:nvSpPr>
          <p:cNvPr id="6" name="Text 3"/>
          <p:cNvSpPr/>
          <p:nvPr/>
        </p:nvSpPr>
        <p:spPr>
          <a:xfrm>
            <a:off x="1463040" y="1545336"/>
            <a:ext cx="2743200" cy="365760"/>
          </a:xfrm>
          <a:prstGeom prst="rect">
            <a:avLst/>
          </a:prstGeom>
          <a:noFill/>
          <a:ln/>
        </p:spPr>
        <p:txBody>
          <a:bodyPr wrap="square" lIns="0" tIns="0" rIns="0" bIns="0" rtlCol="0" anchor="ctr"/>
          <a:lstStyle/>
          <a:p>
            <a:pPr indent="0" marL="0">
              <a:buNone/>
            </a:pPr>
            <a:r>
              <a:rPr lang="en-US" sz="1700" b="1" dirty="0">
                <a:solidFill>
                  <a:srgbClr val="14252B"/>
                </a:solidFill>
                <a:latin typeface="Calibri" pitchFamily="34" charset="0"/>
                <a:ea typeface="Calibri" pitchFamily="34" charset="-122"/>
                <a:cs typeface="Calibri" pitchFamily="34" charset="-120"/>
              </a:rPr>
              <a:t>Mismatched sender</a:t>
            </a:r>
            <a:endParaRPr lang="en-US" sz="1700" dirty="0"/>
          </a:p>
        </p:txBody>
      </p:sp>
      <p:sp>
        <p:nvSpPr>
          <p:cNvPr id="7" name="Text 4"/>
          <p:cNvSpPr/>
          <p:nvPr/>
        </p:nvSpPr>
        <p:spPr>
          <a:xfrm>
            <a:off x="749808" y="2148840"/>
            <a:ext cx="3383280" cy="548640"/>
          </a:xfrm>
          <a:prstGeom prst="rect">
            <a:avLst/>
          </a:prstGeom>
          <a:noFill/>
          <a:ln/>
        </p:spPr>
        <p:txBody>
          <a:bodyPr wrap="square" lIns="0" tIns="0" rIns="0" bIns="0" rtlCol="0" anchor="ctr"/>
          <a:lstStyle/>
          <a:p>
            <a:pPr indent="0" marL="0">
              <a:buNone/>
            </a:pPr>
            <a:r>
              <a:rPr lang="en-US" sz="1250" dirty="0">
                <a:solidFill>
                  <a:srgbClr val="5C6B70"/>
                </a:solidFill>
                <a:latin typeface="Calibri" pitchFamily="34" charset="0"/>
                <a:ea typeface="Calibri" pitchFamily="34" charset="-122"/>
                <a:cs typeface="Calibri" pitchFamily="34" charset="-120"/>
              </a:rPr>
              <a:t>The display name and the real address do not match.</a:t>
            </a:r>
            <a:endParaRPr lang="en-US" sz="1250" dirty="0"/>
          </a:p>
        </p:txBody>
      </p:sp>
      <p:sp>
        <p:nvSpPr>
          <p:cNvPr id="8" name="Shape 5"/>
          <p:cNvSpPr/>
          <p:nvPr/>
        </p:nvSpPr>
        <p:spPr>
          <a:xfrm>
            <a:off x="4754880" y="1234440"/>
            <a:ext cx="3931920" cy="1627632"/>
          </a:xfrm>
          <a:prstGeom prst="roundRect">
            <a:avLst>
              <a:gd name="adj" fmla="val 4494"/>
            </a:avLst>
          </a:prstGeom>
          <a:solidFill>
            <a:srgbClr val="FFFFFF"/>
          </a:solidFill>
          <a:ln w="12700">
            <a:solidFill>
              <a:srgbClr val="E2ECEE"/>
            </a:solidFill>
            <a:prstDash val="solid"/>
          </a:ln>
          <a:effectLst>
            <a:outerShdw sx="100000" sy="100000" kx="0" ky="0" algn="bl" rotWithShape="0" blurRad="88900" dist="25400" dir="5400000">
              <a:srgbClr val="000000">
                <a:alpha val="16000"/>
              </a:srgbClr>
            </a:outerShdw>
          </a:effectLst>
        </p:spPr>
      </p:sp>
      <p:sp>
        <p:nvSpPr>
          <p:cNvPr id="9" name="Shape 6"/>
          <p:cNvSpPr/>
          <p:nvPr/>
        </p:nvSpPr>
        <p:spPr>
          <a:xfrm>
            <a:off x="5029200" y="1527048"/>
            <a:ext cx="566928" cy="566928"/>
          </a:xfrm>
          <a:prstGeom prst="ellipse">
            <a:avLst/>
          </a:prstGeom>
          <a:solidFill>
            <a:srgbClr val="F59E0B"/>
          </a:solidFill>
          <a:ln/>
        </p:spPr>
      </p:sp>
      <p:pic>
        <p:nvPicPr>
          <p:cNvPr id="10" name="Image 1" descr="preencoded.png">    </p:cNvPr>
          <p:cNvPicPr>
            <a:picLocks noChangeAspect="1"/>
          </p:cNvPicPr>
          <p:nvPr/>
        </p:nvPicPr>
        <p:blipFill>
          <a:blip r:embed="rId2"/>
          <a:stretch>
            <a:fillRect/>
          </a:stretch>
        </p:blipFill>
        <p:spPr>
          <a:xfrm>
            <a:off x="5170932" y="1668780"/>
            <a:ext cx="283464" cy="283464"/>
          </a:xfrm>
          <a:prstGeom prst="rect">
            <a:avLst/>
          </a:prstGeom>
        </p:spPr>
      </p:pic>
      <p:sp>
        <p:nvSpPr>
          <p:cNvPr id="11" name="Text 7"/>
          <p:cNvSpPr/>
          <p:nvPr/>
        </p:nvSpPr>
        <p:spPr>
          <a:xfrm>
            <a:off x="5760720" y="1545336"/>
            <a:ext cx="2743200" cy="365760"/>
          </a:xfrm>
          <a:prstGeom prst="rect">
            <a:avLst/>
          </a:prstGeom>
          <a:noFill/>
          <a:ln/>
        </p:spPr>
        <p:txBody>
          <a:bodyPr wrap="square" lIns="0" tIns="0" rIns="0" bIns="0" rtlCol="0" anchor="ctr"/>
          <a:lstStyle/>
          <a:p>
            <a:pPr indent="0" marL="0">
              <a:buNone/>
            </a:pPr>
            <a:r>
              <a:rPr lang="en-US" sz="1700" b="1" dirty="0">
                <a:solidFill>
                  <a:srgbClr val="14252B"/>
                </a:solidFill>
                <a:latin typeface="Calibri" pitchFamily="34" charset="0"/>
                <a:ea typeface="Calibri" pitchFamily="34" charset="-122"/>
                <a:cs typeface="Calibri" pitchFamily="34" charset="-120"/>
              </a:rPr>
              <a:t>Urgent threats</a:t>
            </a:r>
            <a:endParaRPr lang="en-US" sz="1700" dirty="0"/>
          </a:p>
        </p:txBody>
      </p:sp>
      <p:sp>
        <p:nvSpPr>
          <p:cNvPr id="12" name="Text 8"/>
          <p:cNvSpPr/>
          <p:nvPr/>
        </p:nvSpPr>
        <p:spPr>
          <a:xfrm>
            <a:off x="5047488" y="2148840"/>
            <a:ext cx="3383280" cy="548640"/>
          </a:xfrm>
          <a:prstGeom prst="rect">
            <a:avLst/>
          </a:prstGeom>
          <a:noFill/>
          <a:ln/>
        </p:spPr>
        <p:txBody>
          <a:bodyPr wrap="square" lIns="0" tIns="0" rIns="0" bIns="0" rtlCol="0" anchor="ctr"/>
          <a:lstStyle/>
          <a:p>
            <a:pPr indent="0" marL="0">
              <a:buNone/>
            </a:pPr>
            <a:r>
              <a:rPr lang="en-US" sz="1250" dirty="0">
                <a:solidFill>
                  <a:srgbClr val="5C6B70"/>
                </a:solidFill>
                <a:latin typeface="Calibri" pitchFamily="34" charset="0"/>
                <a:ea typeface="Calibri" pitchFamily="34" charset="-122"/>
                <a:cs typeface="Calibri" pitchFamily="34" charset="-120"/>
              </a:rPr>
              <a:t>Your account will be closed in 24 hours. Act fast.</a:t>
            </a:r>
            <a:endParaRPr lang="en-US" sz="1250" dirty="0"/>
          </a:p>
        </p:txBody>
      </p:sp>
      <p:sp>
        <p:nvSpPr>
          <p:cNvPr id="13" name="Shape 9"/>
          <p:cNvSpPr/>
          <p:nvPr/>
        </p:nvSpPr>
        <p:spPr>
          <a:xfrm>
            <a:off x="457200" y="3063240"/>
            <a:ext cx="3931920" cy="1627632"/>
          </a:xfrm>
          <a:prstGeom prst="roundRect">
            <a:avLst>
              <a:gd name="adj" fmla="val 4494"/>
            </a:avLst>
          </a:prstGeom>
          <a:solidFill>
            <a:srgbClr val="FFFFFF"/>
          </a:solidFill>
          <a:ln w="12700">
            <a:solidFill>
              <a:srgbClr val="E2ECEE"/>
            </a:solidFill>
            <a:prstDash val="solid"/>
          </a:ln>
          <a:effectLst>
            <a:outerShdw sx="100000" sy="100000" kx="0" ky="0" algn="bl" rotWithShape="0" blurRad="88900" dist="25400" dir="5400000">
              <a:srgbClr val="000000">
                <a:alpha val="16000"/>
              </a:srgbClr>
            </a:outerShdw>
          </a:effectLst>
        </p:spPr>
      </p:sp>
      <p:sp>
        <p:nvSpPr>
          <p:cNvPr id="14" name="Shape 10"/>
          <p:cNvSpPr/>
          <p:nvPr/>
        </p:nvSpPr>
        <p:spPr>
          <a:xfrm>
            <a:off x="731520" y="3355848"/>
            <a:ext cx="566928" cy="566928"/>
          </a:xfrm>
          <a:prstGeom prst="ellipse">
            <a:avLst/>
          </a:prstGeom>
          <a:solidFill>
            <a:srgbClr val="F59E0B"/>
          </a:solidFill>
          <a:ln/>
        </p:spPr>
      </p:sp>
      <p:pic>
        <p:nvPicPr>
          <p:cNvPr id="15" name="Image 2" descr="preencoded.png">    </p:cNvPr>
          <p:cNvPicPr>
            <a:picLocks noChangeAspect="1"/>
          </p:cNvPicPr>
          <p:nvPr/>
        </p:nvPicPr>
        <p:blipFill>
          <a:blip r:embed="rId3"/>
          <a:stretch>
            <a:fillRect/>
          </a:stretch>
        </p:blipFill>
        <p:spPr>
          <a:xfrm>
            <a:off x="873252" y="3497580"/>
            <a:ext cx="283464" cy="283464"/>
          </a:xfrm>
          <a:prstGeom prst="rect">
            <a:avLst/>
          </a:prstGeom>
        </p:spPr>
      </p:pic>
      <p:sp>
        <p:nvSpPr>
          <p:cNvPr id="16" name="Text 11"/>
          <p:cNvSpPr/>
          <p:nvPr/>
        </p:nvSpPr>
        <p:spPr>
          <a:xfrm>
            <a:off x="1463040" y="3374136"/>
            <a:ext cx="2743200" cy="365760"/>
          </a:xfrm>
          <a:prstGeom prst="rect">
            <a:avLst/>
          </a:prstGeom>
          <a:noFill/>
          <a:ln/>
        </p:spPr>
        <p:txBody>
          <a:bodyPr wrap="square" lIns="0" tIns="0" rIns="0" bIns="0" rtlCol="0" anchor="ctr"/>
          <a:lstStyle/>
          <a:p>
            <a:pPr indent="0" marL="0">
              <a:buNone/>
            </a:pPr>
            <a:r>
              <a:rPr lang="en-US" sz="1700" b="1" dirty="0">
                <a:solidFill>
                  <a:srgbClr val="14252B"/>
                </a:solidFill>
                <a:latin typeface="Calibri" pitchFamily="34" charset="0"/>
                <a:ea typeface="Calibri" pitchFamily="34" charset="-122"/>
                <a:cs typeface="Calibri" pitchFamily="34" charset="-120"/>
              </a:rPr>
              <a:t>Suspicious links</a:t>
            </a:r>
            <a:endParaRPr lang="en-US" sz="1700" dirty="0"/>
          </a:p>
        </p:txBody>
      </p:sp>
      <p:sp>
        <p:nvSpPr>
          <p:cNvPr id="17" name="Text 12"/>
          <p:cNvSpPr/>
          <p:nvPr/>
        </p:nvSpPr>
        <p:spPr>
          <a:xfrm>
            <a:off x="749808" y="3977640"/>
            <a:ext cx="3383280" cy="548640"/>
          </a:xfrm>
          <a:prstGeom prst="rect">
            <a:avLst/>
          </a:prstGeom>
          <a:noFill/>
          <a:ln/>
        </p:spPr>
        <p:txBody>
          <a:bodyPr wrap="square" lIns="0" tIns="0" rIns="0" bIns="0" rtlCol="0" anchor="ctr"/>
          <a:lstStyle/>
          <a:p>
            <a:pPr indent="0" marL="0">
              <a:buNone/>
            </a:pPr>
            <a:r>
              <a:rPr lang="en-US" sz="1250" dirty="0">
                <a:solidFill>
                  <a:srgbClr val="5C6B70"/>
                </a:solidFill>
                <a:latin typeface="Calibri" pitchFamily="34" charset="0"/>
                <a:ea typeface="Calibri" pitchFamily="34" charset="-122"/>
                <a:cs typeface="Calibri" pitchFamily="34" charset="-120"/>
              </a:rPr>
              <a:t>Hover and the link points somewhere you do not recognize.</a:t>
            </a:r>
            <a:endParaRPr lang="en-US" sz="1250" dirty="0"/>
          </a:p>
        </p:txBody>
      </p:sp>
      <p:sp>
        <p:nvSpPr>
          <p:cNvPr id="18" name="Shape 13"/>
          <p:cNvSpPr/>
          <p:nvPr/>
        </p:nvSpPr>
        <p:spPr>
          <a:xfrm>
            <a:off x="4754880" y="3063240"/>
            <a:ext cx="3931920" cy="1627632"/>
          </a:xfrm>
          <a:prstGeom prst="roundRect">
            <a:avLst>
              <a:gd name="adj" fmla="val 4494"/>
            </a:avLst>
          </a:prstGeom>
          <a:solidFill>
            <a:srgbClr val="FFFFFF"/>
          </a:solidFill>
          <a:ln w="12700">
            <a:solidFill>
              <a:srgbClr val="E2ECEE"/>
            </a:solidFill>
            <a:prstDash val="solid"/>
          </a:ln>
          <a:effectLst>
            <a:outerShdw sx="100000" sy="100000" kx="0" ky="0" algn="bl" rotWithShape="0" blurRad="88900" dist="25400" dir="5400000">
              <a:srgbClr val="000000">
                <a:alpha val="16000"/>
              </a:srgbClr>
            </a:outerShdw>
          </a:effectLst>
        </p:spPr>
      </p:sp>
      <p:sp>
        <p:nvSpPr>
          <p:cNvPr id="19" name="Shape 14"/>
          <p:cNvSpPr/>
          <p:nvPr/>
        </p:nvSpPr>
        <p:spPr>
          <a:xfrm>
            <a:off x="5029200" y="3355848"/>
            <a:ext cx="566928" cy="566928"/>
          </a:xfrm>
          <a:prstGeom prst="ellipse">
            <a:avLst/>
          </a:prstGeom>
          <a:solidFill>
            <a:srgbClr val="F59E0B"/>
          </a:solidFill>
          <a:ln/>
        </p:spPr>
      </p:sp>
      <p:pic>
        <p:nvPicPr>
          <p:cNvPr id="20" name="Image 3" descr="preencoded.png">    </p:cNvPr>
          <p:cNvPicPr>
            <a:picLocks noChangeAspect="1"/>
          </p:cNvPicPr>
          <p:nvPr/>
        </p:nvPicPr>
        <p:blipFill>
          <a:blip r:embed="rId4"/>
          <a:stretch>
            <a:fillRect/>
          </a:stretch>
        </p:blipFill>
        <p:spPr>
          <a:xfrm>
            <a:off x="5170932" y="3497580"/>
            <a:ext cx="283464" cy="283464"/>
          </a:xfrm>
          <a:prstGeom prst="rect">
            <a:avLst/>
          </a:prstGeom>
        </p:spPr>
      </p:pic>
      <p:sp>
        <p:nvSpPr>
          <p:cNvPr id="21" name="Text 15"/>
          <p:cNvSpPr/>
          <p:nvPr/>
        </p:nvSpPr>
        <p:spPr>
          <a:xfrm>
            <a:off x="5760720" y="3374136"/>
            <a:ext cx="2743200" cy="365760"/>
          </a:xfrm>
          <a:prstGeom prst="rect">
            <a:avLst/>
          </a:prstGeom>
          <a:noFill/>
          <a:ln/>
        </p:spPr>
        <p:txBody>
          <a:bodyPr wrap="square" lIns="0" tIns="0" rIns="0" bIns="0" rtlCol="0" anchor="ctr"/>
          <a:lstStyle/>
          <a:p>
            <a:pPr indent="0" marL="0">
              <a:buNone/>
            </a:pPr>
            <a:r>
              <a:rPr lang="en-US" sz="1700" b="1" dirty="0">
                <a:solidFill>
                  <a:srgbClr val="14252B"/>
                </a:solidFill>
                <a:latin typeface="Calibri" pitchFamily="34" charset="0"/>
                <a:ea typeface="Calibri" pitchFamily="34" charset="-122"/>
                <a:cs typeface="Calibri" pitchFamily="34" charset="-120"/>
              </a:rPr>
              <a:t>Credential requests</a:t>
            </a:r>
            <a:endParaRPr lang="en-US" sz="1700" dirty="0"/>
          </a:p>
        </p:txBody>
      </p:sp>
      <p:sp>
        <p:nvSpPr>
          <p:cNvPr id="22" name="Text 16"/>
          <p:cNvSpPr/>
          <p:nvPr/>
        </p:nvSpPr>
        <p:spPr>
          <a:xfrm>
            <a:off x="5047488" y="3977640"/>
            <a:ext cx="3383280" cy="548640"/>
          </a:xfrm>
          <a:prstGeom prst="rect">
            <a:avLst/>
          </a:prstGeom>
          <a:noFill/>
          <a:ln/>
        </p:spPr>
        <p:txBody>
          <a:bodyPr wrap="square" lIns="0" tIns="0" rIns="0" bIns="0" rtlCol="0" anchor="ctr"/>
          <a:lstStyle/>
          <a:p>
            <a:pPr indent="0" marL="0">
              <a:buNone/>
            </a:pPr>
            <a:r>
              <a:rPr lang="en-US" sz="1250" dirty="0">
                <a:solidFill>
                  <a:srgbClr val="5C6B70"/>
                </a:solidFill>
                <a:latin typeface="Calibri" pitchFamily="34" charset="0"/>
                <a:ea typeface="Calibri" pitchFamily="34" charset="-122"/>
                <a:cs typeface="Calibri" pitchFamily="34" charset="-120"/>
              </a:rPr>
              <a:t>No real company asks for your password by email.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4252B"/>
                </a:solidFill>
                <a:latin typeface="Cambria" pitchFamily="34" charset="0"/>
                <a:ea typeface="Cambria" pitchFamily="34" charset="-122"/>
                <a:cs typeface="Cambria" pitchFamily="34" charset="-120"/>
              </a:rPr>
              <a:t>Anatomy of a phishing email</a:t>
            </a:r>
            <a:endParaRPr lang="en-US" sz="3000" dirty="0"/>
          </a:p>
        </p:txBody>
      </p:sp>
      <p:sp>
        <p:nvSpPr>
          <p:cNvPr id="3" name="Shape 1"/>
          <p:cNvSpPr/>
          <p:nvPr/>
        </p:nvSpPr>
        <p:spPr>
          <a:xfrm>
            <a:off x="457200" y="1280160"/>
            <a:ext cx="5029200" cy="3291840"/>
          </a:xfrm>
          <a:prstGeom prst="roundRect">
            <a:avLst>
              <a:gd name="adj" fmla="val 1667"/>
            </a:avLst>
          </a:prstGeom>
          <a:solidFill>
            <a:srgbClr val="FFFFFF"/>
          </a:solidFill>
          <a:ln w="12700">
            <a:solidFill>
              <a:srgbClr val="D8E3E5"/>
            </a:solidFill>
            <a:prstDash val="solid"/>
          </a:ln>
          <a:effectLst>
            <a:outerShdw sx="100000" sy="100000" kx="0" ky="0" algn="bl" rotWithShape="0" blurRad="88900" dist="25400" dir="5400000">
              <a:srgbClr val="000000">
                <a:alpha val="16000"/>
              </a:srgbClr>
            </a:outerShdw>
          </a:effectLst>
        </p:spPr>
      </p:sp>
      <p:sp>
        <p:nvSpPr>
          <p:cNvPr id="4" name="Text 2"/>
          <p:cNvSpPr/>
          <p:nvPr/>
        </p:nvSpPr>
        <p:spPr>
          <a:xfrm>
            <a:off x="731520" y="1508760"/>
            <a:ext cx="4480560" cy="365760"/>
          </a:xfrm>
          <a:prstGeom prst="rect">
            <a:avLst/>
          </a:prstGeom>
          <a:noFill/>
          <a:ln/>
        </p:spPr>
        <p:txBody>
          <a:bodyPr wrap="square" lIns="0" tIns="0" rIns="0" bIns="0" rtlCol="0" anchor="ctr"/>
          <a:lstStyle/>
          <a:p>
            <a:pPr indent="0" marL="0">
              <a:buNone/>
            </a:pPr>
            <a:r>
              <a:rPr lang="en-US" sz="1200" dirty="0">
                <a:solidFill>
                  <a:srgbClr val="5C6B70"/>
                </a:solidFill>
                <a:latin typeface="Calibri" pitchFamily="34" charset="0"/>
                <a:ea typeface="Calibri" pitchFamily="34" charset="-122"/>
                <a:cs typeface="Calibri" pitchFamily="34" charset="-120"/>
              </a:rPr>
              <a:t>From:  </a:t>
            </a:r>
            <a:pPr indent="0" marL="0">
              <a:buNone/>
            </a:pPr>
            <a:r>
              <a:rPr lang="en-US" sz="1200" b="1" dirty="0">
                <a:solidFill>
                  <a:srgbClr val="14252B"/>
                </a:solidFill>
                <a:latin typeface="Calibri" pitchFamily="34" charset="0"/>
                <a:ea typeface="Calibri" pitchFamily="34" charset="-122"/>
                <a:cs typeface="Calibri" pitchFamily="34" charset="-120"/>
              </a:rPr>
              <a:t>IT Helpdesk </a:t>
            </a:r>
            <a:pPr indent="0" marL="0">
              <a:buNone/>
            </a:pPr>
            <a:r>
              <a:rPr lang="en-US" sz="1200" b="1" dirty="0">
                <a:solidFill>
                  <a:srgbClr val="F59E0B"/>
                </a:solidFill>
                <a:latin typeface="Calibri" pitchFamily="34" charset="0"/>
                <a:ea typeface="Calibri" pitchFamily="34" charset="-122"/>
                <a:cs typeface="Calibri" pitchFamily="34" charset="-120"/>
              </a:rPr>
              <a:t>&lt;support@1t-helpdesk-secure.com&gt;</a:t>
            </a:r>
            <a:endParaRPr lang="en-US" sz="1200" dirty="0"/>
          </a:p>
        </p:txBody>
      </p:sp>
      <p:sp>
        <p:nvSpPr>
          <p:cNvPr id="5" name="Text 3"/>
          <p:cNvSpPr/>
          <p:nvPr/>
        </p:nvSpPr>
        <p:spPr>
          <a:xfrm>
            <a:off x="731520" y="1938528"/>
            <a:ext cx="4480560" cy="365760"/>
          </a:xfrm>
          <a:prstGeom prst="rect">
            <a:avLst/>
          </a:prstGeom>
          <a:noFill/>
          <a:ln/>
        </p:spPr>
        <p:txBody>
          <a:bodyPr wrap="square" lIns="0" tIns="0" rIns="0" bIns="0" rtlCol="0" anchor="ctr"/>
          <a:lstStyle/>
          <a:p>
            <a:pPr indent="0" marL="0">
              <a:buNone/>
            </a:pPr>
            <a:r>
              <a:rPr lang="en-US" sz="1200" dirty="0">
                <a:solidFill>
                  <a:srgbClr val="5C6B70"/>
                </a:solidFill>
                <a:latin typeface="Calibri" pitchFamily="34" charset="0"/>
                <a:ea typeface="Calibri" pitchFamily="34" charset="-122"/>
                <a:cs typeface="Calibri" pitchFamily="34" charset="-120"/>
              </a:rPr>
              <a:t>Subject:  </a:t>
            </a:r>
            <a:pPr indent="0" marL="0">
              <a:buNone/>
            </a:pPr>
            <a:r>
              <a:rPr lang="en-US" sz="1200" b="1" dirty="0">
                <a:solidFill>
                  <a:srgbClr val="14252B"/>
                </a:solidFill>
                <a:latin typeface="Calibri" pitchFamily="34" charset="0"/>
                <a:ea typeface="Calibri" pitchFamily="34" charset="-122"/>
                <a:cs typeface="Calibri" pitchFamily="34" charset="-120"/>
              </a:rPr>
              <a:t>URGENT: your password expires in 2 hours</a:t>
            </a:r>
            <a:endParaRPr lang="en-US" sz="1200" dirty="0"/>
          </a:p>
        </p:txBody>
      </p:sp>
      <p:sp>
        <p:nvSpPr>
          <p:cNvPr id="6" name="Shape 4"/>
          <p:cNvSpPr/>
          <p:nvPr/>
        </p:nvSpPr>
        <p:spPr>
          <a:xfrm>
            <a:off x="731520" y="2377440"/>
            <a:ext cx="4480560" cy="0"/>
          </a:xfrm>
          <a:prstGeom prst="line">
            <a:avLst/>
          </a:prstGeom>
          <a:noFill/>
          <a:ln w="12700">
            <a:solidFill>
              <a:srgbClr val="E2ECEE"/>
            </a:solidFill>
            <a:prstDash val="solid"/>
          </a:ln>
        </p:spPr>
      </p:sp>
      <p:sp>
        <p:nvSpPr>
          <p:cNvPr id="7" name="Text 5"/>
          <p:cNvSpPr/>
          <p:nvPr/>
        </p:nvSpPr>
        <p:spPr>
          <a:xfrm>
            <a:off x="731520" y="2514600"/>
            <a:ext cx="4480560" cy="914400"/>
          </a:xfrm>
          <a:prstGeom prst="rect">
            <a:avLst/>
          </a:prstGeom>
          <a:noFill/>
          <a:ln/>
        </p:spPr>
        <p:txBody>
          <a:bodyPr wrap="square" lIns="0" tIns="0" rIns="0" bIns="0" rtlCol="0" anchor="ctr"/>
          <a:lstStyle/>
          <a:p>
            <a:pPr indent="0" marL="0">
              <a:buNone/>
            </a:pPr>
            <a:r>
              <a:rPr lang="en-US" sz="1250" dirty="0">
                <a:solidFill>
                  <a:srgbClr val="14252B"/>
                </a:solidFill>
                <a:latin typeface="Calibri" pitchFamily="34" charset="0"/>
                <a:ea typeface="Calibri" pitchFamily="34" charset="-122"/>
                <a:cs typeface="Calibri" pitchFamily="34" charset="-120"/>
              </a:rPr>
              <a:t>We detected unusual sign-in activity on your account. To avoid being locked out, please confirm your details within 2 hours using the button below.</a:t>
            </a:r>
            <a:endParaRPr lang="en-US" sz="1250" dirty="0"/>
          </a:p>
        </p:txBody>
      </p:sp>
      <p:sp>
        <p:nvSpPr>
          <p:cNvPr id="8" name="Shape 6"/>
          <p:cNvSpPr/>
          <p:nvPr/>
        </p:nvSpPr>
        <p:spPr>
          <a:xfrm>
            <a:off x="731520" y="3749040"/>
            <a:ext cx="2103120" cy="502920"/>
          </a:xfrm>
          <a:prstGeom prst="roundRect">
            <a:avLst>
              <a:gd name="adj" fmla="val 10909"/>
            </a:avLst>
          </a:prstGeom>
          <a:solidFill>
            <a:srgbClr val="F59E0B"/>
          </a:solidFill>
          <a:ln/>
        </p:spPr>
      </p:sp>
      <p:sp>
        <p:nvSpPr>
          <p:cNvPr id="9" name="Text 7"/>
          <p:cNvSpPr/>
          <p:nvPr/>
        </p:nvSpPr>
        <p:spPr>
          <a:xfrm>
            <a:off x="731520" y="3749040"/>
            <a:ext cx="21031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Verify My Account</a:t>
            </a:r>
            <a:endParaRPr lang="en-US" sz="1300" dirty="0"/>
          </a:p>
        </p:txBody>
      </p:sp>
      <p:sp>
        <p:nvSpPr>
          <p:cNvPr id="10" name="Shape 8"/>
          <p:cNvSpPr/>
          <p:nvPr/>
        </p:nvSpPr>
        <p:spPr>
          <a:xfrm>
            <a:off x="5989320" y="1463040"/>
            <a:ext cx="2697480" cy="731520"/>
          </a:xfrm>
          <a:prstGeom prst="roundRect">
            <a:avLst>
              <a:gd name="adj" fmla="val 10000"/>
            </a:avLst>
          </a:prstGeom>
          <a:solidFill>
            <a:srgbClr val="EAF4F5"/>
          </a:solidFill>
          <a:ln w="15875">
            <a:solidFill>
              <a:srgbClr val="F59E0B"/>
            </a:solidFill>
            <a:prstDash val="solid"/>
          </a:ln>
        </p:spPr>
      </p:sp>
      <p:sp>
        <p:nvSpPr>
          <p:cNvPr id="11" name="Text 9"/>
          <p:cNvSpPr/>
          <p:nvPr/>
        </p:nvSpPr>
        <p:spPr>
          <a:xfrm>
            <a:off x="6126480" y="1463040"/>
            <a:ext cx="2423160" cy="731520"/>
          </a:xfrm>
          <a:prstGeom prst="rect">
            <a:avLst/>
          </a:prstGeom>
          <a:noFill/>
          <a:ln/>
        </p:spPr>
        <p:txBody>
          <a:bodyPr wrap="square" lIns="0" tIns="0" rIns="0" bIns="0" rtlCol="0" anchor="ctr"/>
          <a:lstStyle/>
          <a:p>
            <a:pPr indent="0" marL="0">
              <a:buNone/>
            </a:pPr>
            <a:r>
              <a:rPr lang="en-US" sz="1250" b="1" dirty="0">
                <a:solidFill>
                  <a:srgbClr val="14252B"/>
                </a:solidFill>
                <a:latin typeface="Calibri" pitchFamily="34" charset="0"/>
                <a:ea typeface="Calibri" pitchFamily="34" charset="-122"/>
                <a:cs typeface="Calibri" pitchFamily="34" charset="-120"/>
              </a:rPr>
              <a:t>Spoofed sender domain</a:t>
            </a:r>
            <a:endParaRPr lang="en-US" sz="1250" dirty="0"/>
          </a:p>
        </p:txBody>
      </p:sp>
      <p:sp>
        <p:nvSpPr>
          <p:cNvPr id="12" name="Shape 10"/>
          <p:cNvSpPr/>
          <p:nvPr/>
        </p:nvSpPr>
        <p:spPr>
          <a:xfrm flipH="1" flipV="1">
            <a:off x="5486400" y="1691640"/>
            <a:ext cx="502920" cy="137160"/>
          </a:xfrm>
          <a:prstGeom prst="line">
            <a:avLst/>
          </a:prstGeom>
          <a:noFill/>
          <a:ln w="22225">
            <a:solidFill>
              <a:srgbClr val="F59E0B"/>
            </a:solidFill>
            <a:prstDash val="solid"/>
            <a:headEnd type="none"/>
            <a:tailEnd type="triangle"/>
          </a:ln>
        </p:spPr>
      </p:sp>
      <p:sp>
        <p:nvSpPr>
          <p:cNvPr id="13" name="Shape 11"/>
          <p:cNvSpPr/>
          <p:nvPr/>
        </p:nvSpPr>
        <p:spPr>
          <a:xfrm>
            <a:off x="5989320" y="2487168"/>
            <a:ext cx="2697480" cy="731520"/>
          </a:xfrm>
          <a:prstGeom prst="roundRect">
            <a:avLst>
              <a:gd name="adj" fmla="val 10000"/>
            </a:avLst>
          </a:prstGeom>
          <a:solidFill>
            <a:srgbClr val="EAF4F5"/>
          </a:solidFill>
          <a:ln w="15875">
            <a:solidFill>
              <a:srgbClr val="F59E0B"/>
            </a:solidFill>
            <a:prstDash val="solid"/>
          </a:ln>
        </p:spPr>
      </p:sp>
      <p:sp>
        <p:nvSpPr>
          <p:cNvPr id="14" name="Text 12"/>
          <p:cNvSpPr/>
          <p:nvPr/>
        </p:nvSpPr>
        <p:spPr>
          <a:xfrm>
            <a:off x="6126480" y="2487168"/>
            <a:ext cx="2423160" cy="731520"/>
          </a:xfrm>
          <a:prstGeom prst="rect">
            <a:avLst/>
          </a:prstGeom>
          <a:noFill/>
          <a:ln/>
        </p:spPr>
        <p:txBody>
          <a:bodyPr wrap="square" lIns="0" tIns="0" rIns="0" bIns="0" rtlCol="0" anchor="ctr"/>
          <a:lstStyle/>
          <a:p>
            <a:pPr indent="0" marL="0">
              <a:buNone/>
            </a:pPr>
            <a:r>
              <a:rPr lang="en-US" sz="1250" b="1" dirty="0">
                <a:solidFill>
                  <a:srgbClr val="14252B"/>
                </a:solidFill>
                <a:latin typeface="Calibri" pitchFamily="34" charset="0"/>
                <a:ea typeface="Calibri" pitchFamily="34" charset="-122"/>
                <a:cs typeface="Calibri" pitchFamily="34" charset="-120"/>
              </a:rPr>
              <a:t>Pressure and a deadline</a:t>
            </a:r>
            <a:endParaRPr lang="en-US" sz="1250" dirty="0"/>
          </a:p>
        </p:txBody>
      </p:sp>
      <p:sp>
        <p:nvSpPr>
          <p:cNvPr id="15" name="Shape 13"/>
          <p:cNvSpPr/>
          <p:nvPr/>
        </p:nvSpPr>
        <p:spPr>
          <a:xfrm flipH="1" flipV="1">
            <a:off x="5486400" y="2121408"/>
            <a:ext cx="502920" cy="731520"/>
          </a:xfrm>
          <a:prstGeom prst="line">
            <a:avLst/>
          </a:prstGeom>
          <a:noFill/>
          <a:ln w="22225">
            <a:solidFill>
              <a:srgbClr val="F59E0B"/>
            </a:solidFill>
            <a:prstDash val="solid"/>
            <a:headEnd type="none"/>
            <a:tailEnd type="triangle"/>
          </a:ln>
        </p:spPr>
      </p:sp>
      <p:sp>
        <p:nvSpPr>
          <p:cNvPr id="16" name="Shape 14"/>
          <p:cNvSpPr/>
          <p:nvPr/>
        </p:nvSpPr>
        <p:spPr>
          <a:xfrm>
            <a:off x="5989320" y="3511296"/>
            <a:ext cx="2697480" cy="731520"/>
          </a:xfrm>
          <a:prstGeom prst="roundRect">
            <a:avLst>
              <a:gd name="adj" fmla="val 10000"/>
            </a:avLst>
          </a:prstGeom>
          <a:solidFill>
            <a:srgbClr val="EAF4F5"/>
          </a:solidFill>
          <a:ln w="15875">
            <a:solidFill>
              <a:srgbClr val="F59E0B"/>
            </a:solidFill>
            <a:prstDash val="solid"/>
          </a:ln>
        </p:spPr>
      </p:sp>
      <p:sp>
        <p:nvSpPr>
          <p:cNvPr id="17" name="Text 15"/>
          <p:cNvSpPr/>
          <p:nvPr/>
        </p:nvSpPr>
        <p:spPr>
          <a:xfrm>
            <a:off x="6126480" y="3511296"/>
            <a:ext cx="2423160" cy="731520"/>
          </a:xfrm>
          <a:prstGeom prst="rect">
            <a:avLst/>
          </a:prstGeom>
          <a:noFill/>
          <a:ln/>
        </p:spPr>
        <p:txBody>
          <a:bodyPr wrap="square" lIns="0" tIns="0" rIns="0" bIns="0" rtlCol="0" anchor="ctr"/>
          <a:lstStyle/>
          <a:p>
            <a:pPr indent="0" marL="0">
              <a:buNone/>
            </a:pPr>
            <a:r>
              <a:rPr lang="en-US" sz="1250" b="1" dirty="0">
                <a:solidFill>
                  <a:srgbClr val="14252B"/>
                </a:solidFill>
                <a:latin typeface="Calibri" pitchFamily="34" charset="0"/>
                <a:ea typeface="Calibri" pitchFamily="34" charset="-122"/>
                <a:cs typeface="Calibri" pitchFamily="34" charset="-120"/>
              </a:rPr>
              <a:t>Fake action button</a:t>
            </a:r>
            <a:endParaRPr lang="en-US" sz="1250" dirty="0"/>
          </a:p>
        </p:txBody>
      </p:sp>
      <p:sp>
        <p:nvSpPr>
          <p:cNvPr id="18" name="Shape 16"/>
          <p:cNvSpPr/>
          <p:nvPr/>
        </p:nvSpPr>
        <p:spPr>
          <a:xfrm flipH="1">
            <a:off x="2834640" y="3877056"/>
            <a:ext cx="3154680" cy="118872"/>
          </a:xfrm>
          <a:prstGeom prst="line">
            <a:avLst/>
          </a:prstGeom>
          <a:noFill/>
          <a:ln w="22225">
            <a:solidFill>
              <a:srgbClr val="F59E0B"/>
            </a:solidFill>
            <a:prstDash val="solid"/>
            <a:headEnd type="none"/>
            <a:tailEnd type="triangle"/>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4252B"/>
                </a:solidFill>
                <a:latin typeface="Cambria" pitchFamily="34" charset="0"/>
                <a:ea typeface="Cambria" pitchFamily="34" charset="-122"/>
                <a:cs typeface="Cambria" pitchFamily="34" charset="-120"/>
              </a:rPr>
              <a:t>The three second check</a:t>
            </a:r>
            <a:endParaRPr lang="en-US" sz="3200" dirty="0"/>
          </a:p>
        </p:txBody>
      </p:sp>
      <p:sp>
        <p:nvSpPr>
          <p:cNvPr id="3" name="Text 1"/>
          <p:cNvSpPr/>
          <p:nvPr/>
        </p:nvSpPr>
        <p:spPr>
          <a:xfrm>
            <a:off x="457200" y="1024128"/>
            <a:ext cx="8229600" cy="365760"/>
          </a:xfrm>
          <a:prstGeom prst="rect">
            <a:avLst/>
          </a:prstGeom>
          <a:noFill/>
          <a:ln/>
        </p:spPr>
        <p:txBody>
          <a:bodyPr wrap="square" lIns="0" tIns="0" rIns="0" bIns="0" rtlCol="0" anchor="ctr"/>
          <a:lstStyle/>
          <a:p>
            <a:pPr indent="0" marL="0">
              <a:buNone/>
            </a:pPr>
            <a:r>
              <a:rPr lang="en-US" sz="1500" i="1" dirty="0">
                <a:solidFill>
                  <a:srgbClr val="5C6B70"/>
                </a:solidFill>
                <a:latin typeface="Calibri" pitchFamily="34" charset="0"/>
                <a:ea typeface="Calibri" pitchFamily="34" charset="-122"/>
                <a:cs typeface="Calibri" pitchFamily="34" charset="-120"/>
              </a:rPr>
              <a:t>Before you click, run these three steps.</a:t>
            </a:r>
            <a:endParaRPr lang="en-US" sz="1500" dirty="0"/>
          </a:p>
        </p:txBody>
      </p:sp>
      <p:sp>
        <p:nvSpPr>
          <p:cNvPr id="4" name="Shape 2"/>
          <p:cNvSpPr/>
          <p:nvPr/>
        </p:nvSpPr>
        <p:spPr>
          <a:xfrm>
            <a:off x="457200" y="1828800"/>
            <a:ext cx="2514600" cy="2468880"/>
          </a:xfrm>
          <a:prstGeom prst="roundRect">
            <a:avLst>
              <a:gd name="adj" fmla="val 2963"/>
            </a:avLst>
          </a:prstGeom>
          <a:solidFill>
            <a:srgbClr val="EAF4F5"/>
          </a:solidFill>
          <a:ln/>
          <a:effectLst>
            <a:outerShdw sx="100000" sy="100000" kx="0" ky="0" algn="bl" rotWithShape="0" blurRad="88900" dist="25400" dir="5400000">
              <a:srgbClr val="000000">
                <a:alpha val="16000"/>
              </a:srgbClr>
            </a:outerShdw>
          </a:effectLst>
        </p:spPr>
      </p:sp>
      <p:sp>
        <p:nvSpPr>
          <p:cNvPr id="5" name="Shape 3"/>
          <p:cNvSpPr/>
          <p:nvPr/>
        </p:nvSpPr>
        <p:spPr>
          <a:xfrm>
            <a:off x="1280160" y="2084832"/>
            <a:ext cx="868680" cy="868680"/>
          </a:xfrm>
          <a:prstGeom prst="ellipse">
            <a:avLst/>
          </a:prstGeom>
          <a:solidFill>
            <a:srgbClr val="0E7490"/>
          </a:solidFill>
          <a:ln/>
        </p:spPr>
      </p:sp>
      <p:pic>
        <p:nvPicPr>
          <p:cNvPr id="6" name="Image 0" descr="preencoded.png">    </p:cNvPr>
          <p:cNvPicPr>
            <a:picLocks noChangeAspect="1"/>
          </p:cNvPicPr>
          <p:nvPr/>
        </p:nvPicPr>
        <p:blipFill>
          <a:blip r:embed="rId1"/>
          <a:stretch>
            <a:fillRect/>
          </a:stretch>
        </p:blipFill>
        <p:spPr>
          <a:xfrm>
            <a:off x="1497330" y="2302002"/>
            <a:ext cx="434340" cy="434340"/>
          </a:xfrm>
          <a:prstGeom prst="rect">
            <a:avLst/>
          </a:prstGeom>
        </p:spPr>
      </p:pic>
      <p:sp>
        <p:nvSpPr>
          <p:cNvPr id="7" name="Text 4"/>
          <p:cNvSpPr/>
          <p:nvPr/>
        </p:nvSpPr>
        <p:spPr>
          <a:xfrm>
            <a:off x="457200" y="1993392"/>
            <a:ext cx="640080" cy="457200"/>
          </a:xfrm>
          <a:prstGeom prst="rect">
            <a:avLst/>
          </a:prstGeom>
          <a:noFill/>
          <a:ln/>
        </p:spPr>
        <p:txBody>
          <a:bodyPr wrap="square" lIns="0" tIns="0" rIns="0" bIns="0" rtlCol="0" anchor="ctr"/>
          <a:lstStyle/>
          <a:p>
            <a:pPr algn="ctr" indent="0" marL="0">
              <a:buNone/>
            </a:pPr>
            <a:r>
              <a:rPr lang="en-US" sz="2200" b="1" dirty="0">
                <a:solidFill>
                  <a:srgbClr val="14B8A6"/>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457200" y="3063240"/>
            <a:ext cx="2514600" cy="365760"/>
          </a:xfrm>
          <a:prstGeom prst="rect">
            <a:avLst/>
          </a:prstGeom>
          <a:noFill/>
          <a:ln/>
        </p:spPr>
        <p:txBody>
          <a:bodyPr wrap="square" lIns="0" tIns="0" rIns="0" bIns="0" rtlCol="0" anchor="ctr"/>
          <a:lstStyle/>
          <a:p>
            <a:pPr algn="ctr" indent="0" marL="0">
              <a:buNone/>
            </a:pPr>
            <a:r>
              <a:rPr lang="en-US" sz="1900" b="1" dirty="0">
                <a:solidFill>
                  <a:srgbClr val="14252B"/>
                </a:solidFill>
                <a:latin typeface="Calibri" pitchFamily="34" charset="0"/>
                <a:ea typeface="Calibri" pitchFamily="34" charset="-122"/>
                <a:cs typeface="Calibri" pitchFamily="34" charset="-120"/>
              </a:rPr>
              <a:t>Stop</a:t>
            </a:r>
            <a:endParaRPr lang="en-US" sz="1900" dirty="0"/>
          </a:p>
        </p:txBody>
      </p:sp>
      <p:sp>
        <p:nvSpPr>
          <p:cNvPr id="9" name="Text 6"/>
          <p:cNvSpPr/>
          <p:nvPr/>
        </p:nvSpPr>
        <p:spPr>
          <a:xfrm>
            <a:off x="640080" y="3474720"/>
            <a:ext cx="2148840" cy="731520"/>
          </a:xfrm>
          <a:prstGeom prst="rect">
            <a:avLst/>
          </a:prstGeom>
          <a:noFill/>
          <a:ln/>
        </p:spPr>
        <p:txBody>
          <a:bodyPr wrap="square" lIns="0" tIns="0" rIns="0" bIns="0" rtlCol="0" anchor="ctr"/>
          <a:lstStyle/>
          <a:p>
            <a:pPr algn="ctr" indent="0" marL="0">
              <a:buNone/>
            </a:pPr>
            <a:r>
              <a:rPr lang="en-US" sz="1250" dirty="0">
                <a:solidFill>
                  <a:srgbClr val="5C6B70"/>
                </a:solidFill>
                <a:latin typeface="Calibri" pitchFamily="34" charset="0"/>
                <a:ea typeface="Calibri" pitchFamily="34" charset="-122"/>
                <a:cs typeface="Calibri" pitchFamily="34" charset="-120"/>
              </a:rPr>
              <a:t>Do not click on reflex. Slow down for a moment.</a:t>
            </a:r>
            <a:endParaRPr lang="en-US" sz="1250" dirty="0"/>
          </a:p>
        </p:txBody>
      </p:sp>
      <p:sp>
        <p:nvSpPr>
          <p:cNvPr id="10" name="Shape 7"/>
          <p:cNvSpPr/>
          <p:nvPr/>
        </p:nvSpPr>
        <p:spPr>
          <a:xfrm>
            <a:off x="3026664" y="2743200"/>
            <a:ext cx="393192" cy="0"/>
          </a:xfrm>
          <a:prstGeom prst="line">
            <a:avLst/>
          </a:prstGeom>
          <a:noFill/>
          <a:ln w="31750">
            <a:solidFill>
              <a:srgbClr val="F59E0B"/>
            </a:solidFill>
            <a:prstDash val="solid"/>
            <a:tailEnd type="triangle"/>
          </a:ln>
        </p:spPr>
      </p:sp>
      <p:sp>
        <p:nvSpPr>
          <p:cNvPr id="11" name="Shape 8"/>
          <p:cNvSpPr/>
          <p:nvPr/>
        </p:nvSpPr>
        <p:spPr>
          <a:xfrm>
            <a:off x="3474720" y="1828800"/>
            <a:ext cx="2514600" cy="2468880"/>
          </a:xfrm>
          <a:prstGeom prst="roundRect">
            <a:avLst>
              <a:gd name="adj" fmla="val 2963"/>
            </a:avLst>
          </a:prstGeom>
          <a:solidFill>
            <a:srgbClr val="EAF4F5"/>
          </a:solidFill>
          <a:ln/>
          <a:effectLst>
            <a:outerShdw sx="100000" sy="100000" kx="0" ky="0" algn="bl" rotWithShape="0" blurRad="88900" dist="25400" dir="5400000">
              <a:srgbClr val="000000">
                <a:alpha val="16000"/>
              </a:srgbClr>
            </a:outerShdw>
          </a:effectLst>
        </p:spPr>
      </p:sp>
      <p:sp>
        <p:nvSpPr>
          <p:cNvPr id="12" name="Shape 9"/>
          <p:cNvSpPr/>
          <p:nvPr/>
        </p:nvSpPr>
        <p:spPr>
          <a:xfrm>
            <a:off x="4297680" y="2084832"/>
            <a:ext cx="868680" cy="868680"/>
          </a:xfrm>
          <a:prstGeom prst="ellipse">
            <a:avLst/>
          </a:prstGeom>
          <a:solidFill>
            <a:srgbClr val="0E7490"/>
          </a:solidFill>
          <a:ln/>
        </p:spPr>
      </p:sp>
      <p:pic>
        <p:nvPicPr>
          <p:cNvPr id="13" name="Image 1" descr="preencoded.png">    </p:cNvPr>
          <p:cNvPicPr>
            <a:picLocks noChangeAspect="1"/>
          </p:cNvPicPr>
          <p:nvPr/>
        </p:nvPicPr>
        <p:blipFill>
          <a:blip r:embed="rId2"/>
          <a:stretch>
            <a:fillRect/>
          </a:stretch>
        </p:blipFill>
        <p:spPr>
          <a:xfrm>
            <a:off x="4514850" y="2302002"/>
            <a:ext cx="434340" cy="434340"/>
          </a:xfrm>
          <a:prstGeom prst="rect">
            <a:avLst/>
          </a:prstGeom>
        </p:spPr>
      </p:pic>
      <p:sp>
        <p:nvSpPr>
          <p:cNvPr id="14" name="Text 10"/>
          <p:cNvSpPr/>
          <p:nvPr/>
        </p:nvSpPr>
        <p:spPr>
          <a:xfrm>
            <a:off x="3474720" y="1993392"/>
            <a:ext cx="640080" cy="457200"/>
          </a:xfrm>
          <a:prstGeom prst="rect">
            <a:avLst/>
          </a:prstGeom>
          <a:noFill/>
          <a:ln/>
        </p:spPr>
        <p:txBody>
          <a:bodyPr wrap="square" lIns="0" tIns="0" rIns="0" bIns="0" rtlCol="0" anchor="ctr"/>
          <a:lstStyle/>
          <a:p>
            <a:pPr algn="ctr" indent="0" marL="0">
              <a:buNone/>
            </a:pPr>
            <a:r>
              <a:rPr lang="en-US" sz="2200" b="1" dirty="0">
                <a:solidFill>
                  <a:srgbClr val="14B8A6"/>
                </a:solidFill>
                <a:latin typeface="Cambria" pitchFamily="34" charset="0"/>
                <a:ea typeface="Cambria" pitchFamily="34" charset="-122"/>
                <a:cs typeface="Cambria" pitchFamily="34" charset="-120"/>
              </a:rPr>
              <a:t>2</a:t>
            </a:r>
            <a:endParaRPr lang="en-US" sz="2200" dirty="0"/>
          </a:p>
        </p:txBody>
      </p:sp>
      <p:sp>
        <p:nvSpPr>
          <p:cNvPr id="15" name="Text 11"/>
          <p:cNvSpPr/>
          <p:nvPr/>
        </p:nvSpPr>
        <p:spPr>
          <a:xfrm>
            <a:off x="3474720" y="3063240"/>
            <a:ext cx="2514600" cy="365760"/>
          </a:xfrm>
          <a:prstGeom prst="rect">
            <a:avLst/>
          </a:prstGeom>
          <a:noFill/>
          <a:ln/>
        </p:spPr>
        <p:txBody>
          <a:bodyPr wrap="square" lIns="0" tIns="0" rIns="0" bIns="0" rtlCol="0" anchor="ctr"/>
          <a:lstStyle/>
          <a:p>
            <a:pPr algn="ctr" indent="0" marL="0">
              <a:buNone/>
            </a:pPr>
            <a:r>
              <a:rPr lang="en-US" sz="1900" b="1" dirty="0">
                <a:solidFill>
                  <a:srgbClr val="14252B"/>
                </a:solidFill>
                <a:latin typeface="Calibri" pitchFamily="34" charset="0"/>
                <a:ea typeface="Calibri" pitchFamily="34" charset="-122"/>
                <a:cs typeface="Calibri" pitchFamily="34" charset="-120"/>
              </a:rPr>
              <a:t>Inspect</a:t>
            </a:r>
            <a:endParaRPr lang="en-US" sz="1900" dirty="0"/>
          </a:p>
        </p:txBody>
      </p:sp>
      <p:sp>
        <p:nvSpPr>
          <p:cNvPr id="16" name="Text 12"/>
          <p:cNvSpPr/>
          <p:nvPr/>
        </p:nvSpPr>
        <p:spPr>
          <a:xfrm>
            <a:off x="3657600" y="3474720"/>
            <a:ext cx="2148840" cy="731520"/>
          </a:xfrm>
          <a:prstGeom prst="rect">
            <a:avLst/>
          </a:prstGeom>
          <a:noFill/>
          <a:ln/>
        </p:spPr>
        <p:txBody>
          <a:bodyPr wrap="square" lIns="0" tIns="0" rIns="0" bIns="0" rtlCol="0" anchor="ctr"/>
          <a:lstStyle/>
          <a:p>
            <a:pPr algn="ctr" indent="0" marL="0">
              <a:buNone/>
            </a:pPr>
            <a:r>
              <a:rPr lang="en-US" sz="1250" dirty="0">
                <a:solidFill>
                  <a:srgbClr val="5C6B70"/>
                </a:solidFill>
                <a:latin typeface="Calibri" pitchFamily="34" charset="0"/>
                <a:ea typeface="Calibri" pitchFamily="34" charset="-122"/>
                <a:cs typeface="Calibri" pitchFamily="34" charset="-120"/>
              </a:rPr>
              <a:t>Check the sender address and hover the links.</a:t>
            </a:r>
            <a:endParaRPr lang="en-US" sz="1250" dirty="0"/>
          </a:p>
        </p:txBody>
      </p:sp>
      <p:sp>
        <p:nvSpPr>
          <p:cNvPr id="17" name="Shape 13"/>
          <p:cNvSpPr/>
          <p:nvPr/>
        </p:nvSpPr>
        <p:spPr>
          <a:xfrm>
            <a:off x="6044184" y="2743200"/>
            <a:ext cx="393192" cy="0"/>
          </a:xfrm>
          <a:prstGeom prst="line">
            <a:avLst/>
          </a:prstGeom>
          <a:noFill/>
          <a:ln w="31750">
            <a:solidFill>
              <a:srgbClr val="F59E0B"/>
            </a:solidFill>
            <a:prstDash val="solid"/>
            <a:tailEnd type="triangle"/>
          </a:ln>
        </p:spPr>
      </p:sp>
      <p:sp>
        <p:nvSpPr>
          <p:cNvPr id="18" name="Shape 14"/>
          <p:cNvSpPr/>
          <p:nvPr/>
        </p:nvSpPr>
        <p:spPr>
          <a:xfrm>
            <a:off x="6492240" y="1828800"/>
            <a:ext cx="2514600" cy="2468880"/>
          </a:xfrm>
          <a:prstGeom prst="roundRect">
            <a:avLst>
              <a:gd name="adj" fmla="val 2963"/>
            </a:avLst>
          </a:prstGeom>
          <a:solidFill>
            <a:srgbClr val="EAF4F5"/>
          </a:solidFill>
          <a:ln/>
          <a:effectLst>
            <a:outerShdw sx="100000" sy="100000" kx="0" ky="0" algn="bl" rotWithShape="0" blurRad="88900" dist="25400" dir="5400000">
              <a:srgbClr val="000000">
                <a:alpha val="16000"/>
              </a:srgbClr>
            </a:outerShdw>
          </a:effectLst>
        </p:spPr>
      </p:sp>
      <p:sp>
        <p:nvSpPr>
          <p:cNvPr id="19" name="Shape 15"/>
          <p:cNvSpPr/>
          <p:nvPr/>
        </p:nvSpPr>
        <p:spPr>
          <a:xfrm>
            <a:off x="7315200" y="2084832"/>
            <a:ext cx="868680" cy="868680"/>
          </a:xfrm>
          <a:prstGeom prst="ellipse">
            <a:avLst/>
          </a:prstGeom>
          <a:solidFill>
            <a:srgbClr val="0E7490"/>
          </a:solidFill>
          <a:ln/>
        </p:spPr>
      </p:sp>
      <p:pic>
        <p:nvPicPr>
          <p:cNvPr id="20" name="Image 2" descr="preencoded.png">    </p:cNvPr>
          <p:cNvPicPr>
            <a:picLocks noChangeAspect="1"/>
          </p:cNvPicPr>
          <p:nvPr/>
        </p:nvPicPr>
        <p:blipFill>
          <a:blip r:embed="rId3"/>
          <a:stretch>
            <a:fillRect/>
          </a:stretch>
        </p:blipFill>
        <p:spPr>
          <a:xfrm>
            <a:off x="7532370" y="2302002"/>
            <a:ext cx="434340" cy="434340"/>
          </a:xfrm>
          <a:prstGeom prst="rect">
            <a:avLst/>
          </a:prstGeom>
        </p:spPr>
      </p:pic>
      <p:sp>
        <p:nvSpPr>
          <p:cNvPr id="21" name="Text 16"/>
          <p:cNvSpPr/>
          <p:nvPr/>
        </p:nvSpPr>
        <p:spPr>
          <a:xfrm>
            <a:off x="6492240" y="1993392"/>
            <a:ext cx="640080" cy="457200"/>
          </a:xfrm>
          <a:prstGeom prst="rect">
            <a:avLst/>
          </a:prstGeom>
          <a:noFill/>
          <a:ln/>
        </p:spPr>
        <p:txBody>
          <a:bodyPr wrap="square" lIns="0" tIns="0" rIns="0" bIns="0" rtlCol="0" anchor="ctr"/>
          <a:lstStyle/>
          <a:p>
            <a:pPr algn="ctr" indent="0" marL="0">
              <a:buNone/>
            </a:pPr>
            <a:r>
              <a:rPr lang="en-US" sz="2200" b="1" dirty="0">
                <a:solidFill>
                  <a:srgbClr val="14B8A6"/>
                </a:solidFill>
                <a:latin typeface="Cambria" pitchFamily="34" charset="0"/>
                <a:ea typeface="Cambria" pitchFamily="34" charset="-122"/>
                <a:cs typeface="Cambria" pitchFamily="34" charset="-120"/>
              </a:rPr>
              <a:t>3</a:t>
            </a:r>
            <a:endParaRPr lang="en-US" sz="2200" dirty="0"/>
          </a:p>
        </p:txBody>
      </p:sp>
      <p:sp>
        <p:nvSpPr>
          <p:cNvPr id="22" name="Text 17"/>
          <p:cNvSpPr/>
          <p:nvPr/>
        </p:nvSpPr>
        <p:spPr>
          <a:xfrm>
            <a:off x="6492240" y="3063240"/>
            <a:ext cx="2514600" cy="365760"/>
          </a:xfrm>
          <a:prstGeom prst="rect">
            <a:avLst/>
          </a:prstGeom>
          <a:noFill/>
          <a:ln/>
        </p:spPr>
        <p:txBody>
          <a:bodyPr wrap="square" lIns="0" tIns="0" rIns="0" bIns="0" rtlCol="0" anchor="ctr"/>
          <a:lstStyle/>
          <a:p>
            <a:pPr algn="ctr" indent="0" marL="0">
              <a:buNone/>
            </a:pPr>
            <a:r>
              <a:rPr lang="en-US" sz="1900" b="1" dirty="0">
                <a:solidFill>
                  <a:srgbClr val="14252B"/>
                </a:solidFill>
                <a:latin typeface="Calibri" pitchFamily="34" charset="0"/>
                <a:ea typeface="Calibri" pitchFamily="34" charset="-122"/>
                <a:cs typeface="Calibri" pitchFamily="34" charset="-120"/>
              </a:rPr>
              <a:t>Verify</a:t>
            </a:r>
            <a:endParaRPr lang="en-US" sz="1900" dirty="0"/>
          </a:p>
        </p:txBody>
      </p:sp>
      <p:sp>
        <p:nvSpPr>
          <p:cNvPr id="23" name="Text 18"/>
          <p:cNvSpPr/>
          <p:nvPr/>
        </p:nvSpPr>
        <p:spPr>
          <a:xfrm>
            <a:off x="6675120" y="3474720"/>
            <a:ext cx="2148840" cy="731520"/>
          </a:xfrm>
          <a:prstGeom prst="rect">
            <a:avLst/>
          </a:prstGeom>
          <a:noFill/>
          <a:ln/>
        </p:spPr>
        <p:txBody>
          <a:bodyPr wrap="square" lIns="0" tIns="0" rIns="0" bIns="0" rtlCol="0" anchor="ctr"/>
          <a:lstStyle/>
          <a:p>
            <a:pPr algn="ctr" indent="0" marL="0">
              <a:buNone/>
            </a:pPr>
            <a:r>
              <a:rPr lang="en-US" sz="1250" dirty="0">
                <a:solidFill>
                  <a:srgbClr val="5C6B70"/>
                </a:solidFill>
                <a:latin typeface="Calibri" pitchFamily="34" charset="0"/>
                <a:ea typeface="Calibri" pitchFamily="34" charset="-122"/>
                <a:cs typeface="Calibri" pitchFamily="34" charset="-120"/>
              </a:rPr>
              <a:t>Unsure? Confirm through a channel you already trust.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4252B"/>
                </a:solidFill>
                <a:latin typeface="Cambria" pitchFamily="34" charset="0"/>
                <a:ea typeface="Cambria" pitchFamily="34" charset="-122"/>
                <a:cs typeface="Cambria" pitchFamily="34" charset="-120"/>
              </a:rPr>
              <a:t>If you are not sure</a:t>
            </a:r>
            <a:endParaRPr lang="en-US" sz="3200" dirty="0"/>
          </a:p>
        </p:txBody>
      </p:sp>
      <p:sp>
        <p:nvSpPr>
          <p:cNvPr id="3" name="Shape 1"/>
          <p:cNvSpPr/>
          <p:nvPr/>
        </p:nvSpPr>
        <p:spPr>
          <a:xfrm>
            <a:off x="457200" y="1280160"/>
            <a:ext cx="3931920" cy="3200400"/>
          </a:xfrm>
          <a:prstGeom prst="roundRect">
            <a:avLst>
              <a:gd name="adj" fmla="val 2286"/>
            </a:avLst>
          </a:prstGeom>
          <a:solidFill>
            <a:srgbClr val="EAF7F4"/>
          </a:solidFill>
          <a:ln/>
          <a:effectLst>
            <a:outerShdw sx="100000" sy="100000" kx="0" ky="0" algn="bl" rotWithShape="0" blurRad="88900" dist="25400" dir="5400000">
              <a:srgbClr val="000000">
                <a:alpha val="16000"/>
              </a:srgbClr>
            </a:outerShdw>
          </a:effectLst>
        </p:spPr>
      </p:sp>
      <p:sp>
        <p:nvSpPr>
          <p:cNvPr id="4" name="Shape 2"/>
          <p:cNvSpPr/>
          <p:nvPr/>
        </p:nvSpPr>
        <p:spPr>
          <a:xfrm>
            <a:off x="731520" y="1554480"/>
            <a:ext cx="548640" cy="548640"/>
          </a:xfrm>
          <a:prstGeom prst="ellipse">
            <a:avLst/>
          </a:prstGeom>
          <a:solidFill>
            <a:srgbClr val="0E7490"/>
          </a:solidFill>
          <a:ln/>
        </p:spPr>
      </p:sp>
      <p:pic>
        <p:nvPicPr>
          <p:cNvPr id="5" name="Image 0" descr="preencoded.png">    </p:cNvPr>
          <p:cNvPicPr>
            <a:picLocks noChangeAspect="1"/>
          </p:cNvPicPr>
          <p:nvPr/>
        </p:nvPicPr>
        <p:blipFill>
          <a:blip r:embed="rId1"/>
          <a:stretch>
            <a:fillRect/>
          </a:stretch>
        </p:blipFill>
        <p:spPr>
          <a:xfrm>
            <a:off x="868680" y="1691640"/>
            <a:ext cx="274320" cy="274320"/>
          </a:xfrm>
          <a:prstGeom prst="rect">
            <a:avLst/>
          </a:prstGeom>
        </p:spPr>
      </p:pic>
      <p:sp>
        <p:nvSpPr>
          <p:cNvPr id="6" name="Text 3"/>
          <p:cNvSpPr/>
          <p:nvPr/>
        </p:nvSpPr>
        <p:spPr>
          <a:xfrm>
            <a:off x="1417320" y="1591056"/>
            <a:ext cx="2743200" cy="457200"/>
          </a:xfrm>
          <a:prstGeom prst="rect">
            <a:avLst/>
          </a:prstGeom>
          <a:noFill/>
          <a:ln/>
        </p:spPr>
        <p:txBody>
          <a:bodyPr wrap="square" lIns="0" tIns="0" rIns="0" bIns="0" rtlCol="0" anchor="ctr"/>
          <a:lstStyle/>
          <a:p>
            <a:pPr indent="0" marL="0">
              <a:buNone/>
            </a:pPr>
            <a:r>
              <a:rPr lang="en-US" sz="2000" b="1" dirty="0">
                <a:solidFill>
                  <a:srgbClr val="0E7490"/>
                </a:solidFill>
                <a:latin typeface="Calibri" pitchFamily="34" charset="0"/>
                <a:ea typeface="Calibri" pitchFamily="34" charset="-122"/>
                <a:cs typeface="Calibri" pitchFamily="34" charset="-120"/>
              </a:rPr>
              <a:t>Do</a:t>
            </a:r>
            <a:endParaRPr lang="en-US" sz="2000" dirty="0"/>
          </a:p>
        </p:txBody>
      </p:sp>
      <p:sp>
        <p:nvSpPr>
          <p:cNvPr id="7" name="Text 4"/>
          <p:cNvSpPr/>
          <p:nvPr/>
        </p:nvSpPr>
        <p:spPr>
          <a:xfrm>
            <a:off x="777240" y="2331720"/>
            <a:ext cx="3291840" cy="192024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14252B"/>
                </a:solidFill>
                <a:latin typeface="Calibri" pitchFamily="34" charset="0"/>
                <a:ea typeface="Calibri" pitchFamily="34" charset="-122"/>
                <a:cs typeface="Calibri" pitchFamily="34" charset="-120"/>
              </a:rPr>
              <a:t>Pause and read the full sender address.</a:t>
            </a:r>
            <a:endParaRPr lang="en-US" sz="1400" dirty="0"/>
          </a:p>
          <a:p>
            <a:pPr marL="342900" indent="-342900">
              <a:spcAft>
                <a:spcPts val="1000"/>
              </a:spcAft>
              <a:buSzPct val="100000"/>
              <a:buChar char="•"/>
            </a:pPr>
            <a:r>
              <a:rPr lang="en-US" sz="1400" dirty="0">
                <a:solidFill>
                  <a:srgbClr val="14252B"/>
                </a:solidFill>
                <a:latin typeface="Calibri" pitchFamily="34" charset="0"/>
                <a:ea typeface="Calibri" pitchFamily="34" charset="-122"/>
                <a:cs typeface="Calibri" pitchFamily="34" charset="-120"/>
              </a:rPr>
              <a:t>Hover over links before clicking anything.</a:t>
            </a:r>
            <a:endParaRPr lang="en-US" sz="1400" dirty="0"/>
          </a:p>
          <a:p>
            <a:pPr marL="342900" indent="-342900">
              <a:spcAft>
                <a:spcPts val="1000"/>
              </a:spcAft>
              <a:buSzPct val="100000"/>
              <a:buChar char="•"/>
            </a:pPr>
            <a:r>
              <a:rPr lang="en-US" sz="1400" dirty="0">
                <a:solidFill>
                  <a:srgbClr val="14252B"/>
                </a:solidFill>
                <a:latin typeface="Calibri" pitchFamily="34" charset="0"/>
                <a:ea typeface="Calibri" pitchFamily="34" charset="-122"/>
                <a:cs typeface="Calibri" pitchFamily="34" charset="-120"/>
              </a:rPr>
              <a:t>Report it to IT, then delete it.</a:t>
            </a:r>
            <a:endParaRPr lang="en-US" sz="1400" dirty="0"/>
          </a:p>
        </p:txBody>
      </p:sp>
      <p:sp>
        <p:nvSpPr>
          <p:cNvPr id="8" name="Shape 5"/>
          <p:cNvSpPr/>
          <p:nvPr/>
        </p:nvSpPr>
        <p:spPr>
          <a:xfrm>
            <a:off x="4754880" y="1280160"/>
            <a:ext cx="3931920" cy="3200400"/>
          </a:xfrm>
          <a:prstGeom prst="roundRect">
            <a:avLst>
              <a:gd name="adj" fmla="val 2286"/>
            </a:avLst>
          </a:prstGeom>
          <a:solidFill>
            <a:srgbClr val="FDF3E4"/>
          </a:solidFill>
          <a:ln/>
          <a:effectLst>
            <a:outerShdw sx="100000" sy="100000" kx="0" ky="0" algn="bl" rotWithShape="0" blurRad="88900" dist="25400" dir="5400000">
              <a:srgbClr val="000000">
                <a:alpha val="16000"/>
              </a:srgbClr>
            </a:outerShdw>
          </a:effectLst>
        </p:spPr>
      </p:sp>
      <p:sp>
        <p:nvSpPr>
          <p:cNvPr id="9" name="Shape 6"/>
          <p:cNvSpPr/>
          <p:nvPr/>
        </p:nvSpPr>
        <p:spPr>
          <a:xfrm>
            <a:off x="5029200" y="1554480"/>
            <a:ext cx="548640" cy="548640"/>
          </a:xfrm>
          <a:prstGeom prst="ellipse">
            <a:avLst/>
          </a:prstGeom>
          <a:solidFill>
            <a:srgbClr val="F59E0B"/>
          </a:solidFill>
          <a:ln/>
        </p:spPr>
      </p:sp>
      <p:pic>
        <p:nvPicPr>
          <p:cNvPr id="10" name="Image 1" descr="preencoded.png">    </p:cNvPr>
          <p:cNvPicPr>
            <a:picLocks noChangeAspect="1"/>
          </p:cNvPicPr>
          <p:nvPr/>
        </p:nvPicPr>
        <p:blipFill>
          <a:blip r:embed="rId2"/>
          <a:stretch>
            <a:fillRect/>
          </a:stretch>
        </p:blipFill>
        <p:spPr>
          <a:xfrm>
            <a:off x="5166360" y="1691640"/>
            <a:ext cx="274320" cy="274320"/>
          </a:xfrm>
          <a:prstGeom prst="rect">
            <a:avLst/>
          </a:prstGeom>
        </p:spPr>
      </p:pic>
      <p:sp>
        <p:nvSpPr>
          <p:cNvPr id="11" name="Text 7"/>
          <p:cNvSpPr/>
          <p:nvPr/>
        </p:nvSpPr>
        <p:spPr>
          <a:xfrm>
            <a:off x="5715000" y="1591056"/>
            <a:ext cx="2743200" cy="457200"/>
          </a:xfrm>
          <a:prstGeom prst="rect">
            <a:avLst/>
          </a:prstGeom>
          <a:noFill/>
          <a:ln/>
        </p:spPr>
        <p:txBody>
          <a:bodyPr wrap="square" lIns="0" tIns="0" rIns="0" bIns="0" rtlCol="0" anchor="ctr"/>
          <a:lstStyle/>
          <a:p>
            <a:pPr indent="0" marL="0">
              <a:buNone/>
            </a:pPr>
            <a:r>
              <a:rPr lang="en-US" sz="2000" b="1" dirty="0">
                <a:solidFill>
                  <a:srgbClr val="B45309"/>
                </a:solidFill>
                <a:latin typeface="Calibri" pitchFamily="34" charset="0"/>
                <a:ea typeface="Calibri" pitchFamily="34" charset="-122"/>
                <a:cs typeface="Calibri" pitchFamily="34" charset="-120"/>
              </a:rPr>
              <a:t>Avoid</a:t>
            </a:r>
            <a:endParaRPr lang="en-US" sz="2000" dirty="0"/>
          </a:p>
        </p:txBody>
      </p:sp>
      <p:sp>
        <p:nvSpPr>
          <p:cNvPr id="12" name="Text 8"/>
          <p:cNvSpPr/>
          <p:nvPr/>
        </p:nvSpPr>
        <p:spPr>
          <a:xfrm>
            <a:off x="5074920" y="2331720"/>
            <a:ext cx="3291840" cy="192024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14252B"/>
                </a:solidFill>
                <a:latin typeface="Calibri" pitchFamily="34" charset="0"/>
                <a:ea typeface="Calibri" pitchFamily="34" charset="-122"/>
                <a:cs typeface="Calibri" pitchFamily="34" charset="-120"/>
              </a:rPr>
              <a:t>Clicking or opening attachments in a rush.</a:t>
            </a:r>
            <a:endParaRPr lang="en-US" sz="1400" dirty="0"/>
          </a:p>
          <a:p>
            <a:pPr marL="342900" indent="-342900">
              <a:spcAft>
                <a:spcPts val="1000"/>
              </a:spcAft>
              <a:buSzPct val="100000"/>
              <a:buChar char="•"/>
            </a:pPr>
            <a:r>
              <a:rPr lang="en-US" sz="1400" dirty="0">
                <a:solidFill>
                  <a:srgbClr val="14252B"/>
                </a:solidFill>
                <a:latin typeface="Calibri" pitchFamily="34" charset="0"/>
                <a:ea typeface="Calibri" pitchFamily="34" charset="-122"/>
                <a:cs typeface="Calibri" pitchFamily="34" charset="-120"/>
              </a:rPr>
              <a:t>Replying with passwords or codes. Ever.</a:t>
            </a:r>
            <a:endParaRPr lang="en-US" sz="1400" dirty="0"/>
          </a:p>
          <a:p>
            <a:pPr marL="342900" indent="-342900">
              <a:spcAft>
                <a:spcPts val="1000"/>
              </a:spcAft>
              <a:buSzPct val="100000"/>
              <a:buChar char="•"/>
            </a:pPr>
            <a:r>
              <a:rPr lang="en-US" sz="1400" dirty="0">
                <a:solidFill>
                  <a:srgbClr val="14252B"/>
                </a:solidFill>
                <a:latin typeface="Calibri" pitchFamily="34" charset="0"/>
                <a:ea typeface="Calibri" pitchFamily="34" charset="-122"/>
                <a:cs typeface="Calibri" pitchFamily="34" charset="-120"/>
              </a:rPr>
              <a:t>Trusting a logo or a familiar name alone.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B45"/>
        </a:solidFill>
      </p:bgPr>
    </p:bg>
    <p:spTree>
      <p:nvGrpSpPr>
        <p:cNvPr id="1" name=""/>
        <p:cNvGrpSpPr/>
        <p:nvPr/>
      </p:nvGrpSpPr>
      <p:grpSpPr>
        <a:xfrm>
          <a:off x="0" y="0"/>
          <a:ext cx="0" cy="0"/>
          <a:chOff x="0" y="0"/>
          <a:chExt cx="0" cy="0"/>
        </a:xfrm>
      </p:grpSpPr>
      <p:sp>
        <p:nvSpPr>
          <p:cNvPr id="2" name="Text 0"/>
          <p:cNvSpPr/>
          <p:nvPr/>
        </p:nvSpPr>
        <p:spPr>
          <a:xfrm>
            <a:off x="457200" y="502920"/>
            <a:ext cx="8229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takeaways</a:t>
            </a:r>
            <a:endParaRPr lang="en-US" sz="3400" dirty="0"/>
          </a:p>
        </p:txBody>
      </p:sp>
      <p:sp>
        <p:nvSpPr>
          <p:cNvPr id="3" name="Shape 1"/>
          <p:cNvSpPr/>
          <p:nvPr/>
        </p:nvSpPr>
        <p:spPr>
          <a:xfrm>
            <a:off x="548640" y="1554480"/>
            <a:ext cx="457200" cy="457200"/>
          </a:xfrm>
          <a:prstGeom prst="ellipse">
            <a:avLst/>
          </a:prstGeom>
          <a:solidFill>
            <a:srgbClr val="14B8A6"/>
          </a:solidFill>
          <a:ln/>
        </p:spPr>
      </p:sp>
      <p:pic>
        <p:nvPicPr>
          <p:cNvPr id="4" name="Image 0" descr="preencoded.png">    </p:cNvPr>
          <p:cNvPicPr>
            <a:picLocks noChangeAspect="1"/>
          </p:cNvPicPr>
          <p:nvPr/>
        </p:nvPicPr>
        <p:blipFill>
          <a:blip r:embed="rId1"/>
          <a:stretch>
            <a:fillRect/>
          </a:stretch>
        </p:blipFill>
        <p:spPr>
          <a:xfrm>
            <a:off x="662940" y="1668780"/>
            <a:ext cx="228600" cy="228600"/>
          </a:xfrm>
          <a:prstGeom prst="rect">
            <a:avLst/>
          </a:prstGeom>
        </p:spPr>
      </p:pic>
      <p:sp>
        <p:nvSpPr>
          <p:cNvPr id="5" name="Text 2"/>
          <p:cNvSpPr/>
          <p:nvPr/>
        </p:nvSpPr>
        <p:spPr>
          <a:xfrm>
            <a:off x="1188720" y="1508760"/>
            <a:ext cx="740664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Most attacks start with a single convincing email.</a:t>
            </a:r>
            <a:endParaRPr lang="en-US" sz="1800" dirty="0"/>
          </a:p>
        </p:txBody>
      </p:sp>
      <p:sp>
        <p:nvSpPr>
          <p:cNvPr id="6" name="Shape 3"/>
          <p:cNvSpPr/>
          <p:nvPr/>
        </p:nvSpPr>
        <p:spPr>
          <a:xfrm>
            <a:off x="548640" y="2304288"/>
            <a:ext cx="457200" cy="457200"/>
          </a:xfrm>
          <a:prstGeom prst="ellipse">
            <a:avLst/>
          </a:prstGeom>
          <a:solidFill>
            <a:srgbClr val="14B8A6"/>
          </a:solidFill>
          <a:ln/>
        </p:spPr>
      </p:sp>
      <p:pic>
        <p:nvPicPr>
          <p:cNvPr id="7" name="Image 1" descr="preencoded.png">    </p:cNvPr>
          <p:cNvPicPr>
            <a:picLocks noChangeAspect="1"/>
          </p:cNvPicPr>
          <p:nvPr/>
        </p:nvPicPr>
        <p:blipFill>
          <a:blip r:embed="rId2"/>
          <a:stretch>
            <a:fillRect/>
          </a:stretch>
        </p:blipFill>
        <p:spPr>
          <a:xfrm>
            <a:off x="662940" y="2418588"/>
            <a:ext cx="228600" cy="228600"/>
          </a:xfrm>
          <a:prstGeom prst="rect">
            <a:avLst/>
          </a:prstGeom>
        </p:spPr>
      </p:pic>
      <p:sp>
        <p:nvSpPr>
          <p:cNvPr id="8" name="Text 4"/>
          <p:cNvSpPr/>
          <p:nvPr/>
        </p:nvSpPr>
        <p:spPr>
          <a:xfrm>
            <a:off x="1188720" y="2258568"/>
            <a:ext cx="740664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Watch for urgency, odd senders, and link or password requests.</a:t>
            </a:r>
            <a:endParaRPr lang="en-US" sz="1800" dirty="0"/>
          </a:p>
        </p:txBody>
      </p:sp>
      <p:sp>
        <p:nvSpPr>
          <p:cNvPr id="9" name="Shape 5"/>
          <p:cNvSpPr/>
          <p:nvPr/>
        </p:nvSpPr>
        <p:spPr>
          <a:xfrm>
            <a:off x="548640" y="3054096"/>
            <a:ext cx="457200" cy="457200"/>
          </a:xfrm>
          <a:prstGeom prst="ellipse">
            <a:avLst/>
          </a:prstGeom>
          <a:solidFill>
            <a:srgbClr val="14B8A6"/>
          </a:solidFill>
          <a:ln/>
        </p:spPr>
      </p:sp>
      <p:pic>
        <p:nvPicPr>
          <p:cNvPr id="10" name="Image 2" descr="preencoded.png">    </p:cNvPr>
          <p:cNvPicPr>
            <a:picLocks noChangeAspect="1"/>
          </p:cNvPicPr>
          <p:nvPr/>
        </p:nvPicPr>
        <p:blipFill>
          <a:blip r:embed="rId3"/>
          <a:stretch>
            <a:fillRect/>
          </a:stretch>
        </p:blipFill>
        <p:spPr>
          <a:xfrm>
            <a:off x="662940" y="3168396"/>
            <a:ext cx="228600" cy="228600"/>
          </a:xfrm>
          <a:prstGeom prst="rect">
            <a:avLst/>
          </a:prstGeom>
        </p:spPr>
      </p:pic>
      <p:sp>
        <p:nvSpPr>
          <p:cNvPr id="11" name="Text 6"/>
          <p:cNvSpPr/>
          <p:nvPr/>
        </p:nvSpPr>
        <p:spPr>
          <a:xfrm>
            <a:off x="1188720" y="3008376"/>
            <a:ext cx="740664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When in doubt, stop and verify through a trusted channel.</a:t>
            </a:r>
            <a:endParaRPr lang="en-US" sz="1800" dirty="0"/>
          </a:p>
        </p:txBody>
      </p:sp>
      <p:sp>
        <p:nvSpPr>
          <p:cNvPr id="12" name="Shape 7"/>
          <p:cNvSpPr/>
          <p:nvPr/>
        </p:nvSpPr>
        <p:spPr>
          <a:xfrm>
            <a:off x="548640" y="4114800"/>
            <a:ext cx="8046720" cy="685800"/>
          </a:xfrm>
          <a:prstGeom prst="roundRect">
            <a:avLst>
              <a:gd name="adj" fmla="val 13333"/>
            </a:avLst>
          </a:prstGeom>
          <a:solidFill>
            <a:srgbClr val="14B8A6"/>
          </a:solidFill>
          <a:ln/>
        </p:spPr>
      </p:sp>
      <p:sp>
        <p:nvSpPr>
          <p:cNvPr id="13" name="Text 8"/>
          <p:cNvSpPr/>
          <p:nvPr/>
        </p:nvSpPr>
        <p:spPr>
          <a:xfrm>
            <a:off x="548640" y="4114800"/>
            <a:ext cx="8046720" cy="685800"/>
          </a:xfrm>
          <a:prstGeom prst="rect">
            <a:avLst/>
          </a:prstGeom>
          <a:noFill/>
          <a:ln/>
        </p:spPr>
        <p:txBody>
          <a:bodyPr wrap="square" lIns="0" tIns="0" rIns="0" bIns="0" rtlCol="0" anchor="ctr"/>
          <a:lstStyle/>
          <a:p>
            <a:pPr algn="ctr" indent="0" marL="0">
              <a:buNone/>
            </a:pPr>
            <a:r>
              <a:rPr lang="en-US" sz="1600" b="1" dirty="0">
                <a:solidFill>
                  <a:srgbClr val="0B3B45"/>
                </a:solidFill>
                <a:latin typeface="Calibri" pitchFamily="34" charset="0"/>
                <a:ea typeface="Calibri" pitchFamily="34" charset="-122"/>
                <a:cs typeface="Calibri" pitchFamily="34" charset="-120"/>
              </a:rPr>
              <a:t>Spot something suspicious? Report it to IT right away.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dc:title>
  <dc:subject>PptxGenJS Presentation</dc:subject>
  <dc:creator>natestoker.com</dc:creator>
  <cp:lastModifiedBy>natestoker.com</cp:lastModifiedBy>
  <cp:revision>1</cp:revision>
  <dcterms:created xsi:type="dcterms:W3CDTF">2026-06-22T05:15:17Z</dcterms:created>
  <dcterms:modified xsi:type="dcterms:W3CDTF">2026-06-22T05:15:17Z</dcterms:modified>
</cp:coreProperties>
</file>